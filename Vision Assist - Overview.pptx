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3203A"/>
                </a:solidFill>
                <a:latin typeface="Arial"/>
              </a:defRPr>
            </a:pPr>
            <a:r>
              <a:rPr sz="1300" b="0" i="0" u="none" strike="noStrike">
                <a:solidFill>
                  <a:srgbClr val="13203A"/>
                </a:solidFill>
                <a:latin typeface="Arial"/>
              </a:rPr>
              <a:t>Time per frame on a CPU (ms)</a:t>
            </a:r>
          </a:p>
        </c:rich>
      </c:tx>
      <c:layout/>
      <c:overlay val="0"/>
    </c:title>
    <c:autoTitleDeleted val="0"/>
    <c:plotArea>
      <c:layout/>
      <c:barChart>
        <c:barDir val="col"/>
        <c:grouping val="clustered"/>
        <c:varyColors val="0"/>
        <c:ser>
          <c:idx val="0"/>
          <c:order val="0"/>
          <c:tx>
            <c:strRef>
              <c:f>Sheet1!$B$1</c:f>
              <c:strCache>
                <c:ptCount val="1"/>
                <c:pt idx="0">
                  <c:v>Milliseconds per frame</c:v>
                </c:pt>
              </c:strCache>
            </c:strRef>
          </c:tx>
          <c:spPr>
            <a:solidFill>
              <a:srgbClr val="0E9F8E"/>
            </a:solidFill>
            <a:effectLst/>
          </c:spPr>
          <c:invertIfNegative val="0"/>
          <c:dLbls>
            <c:numFmt formatCode="#,##0" sourceLinked="0"/>
            <c:txPr>
              <a:bodyPr/>
              <a:lstStyle/>
              <a:p>
                <a:pPr>
                  <a:defRPr b="0" i="0" strike="noStrike" sz="1200" u="none">
                    <a:solidFill>
                      <a:srgbClr val="1F2937"/>
                    </a:solidFill>
                    <a:latin typeface="Arial"/>
                  </a:defRPr>
                </a:pPr>
              </a:p>
            </c:txPr>
            <c:showLegendKey val="0"/>
            <c:showVal val="1"/>
            <c:showCatName val="0"/>
            <c:showSerName val="0"/>
            <c:showPercent val="0"/>
            <c:showBubbleSize val="0"/>
            <c:showLeaderLines val="0"/>
          </c:dLbls>
          <c:cat>
            <c:multiLvlStrRef>
              <c:f>Sheet1!$A$2:$A$4</c:f>
              <c:multiLvlStrCache>
                <c:ptCount val="3"/>
                <c:lvl>
                  <c:pt idx="0">
                    <c:v>yolov8n (fastest)</c:v>
                  </c:pt>
                  <c:pt idx="1">
                    <c:v>yolov8s (default)</c:v>
                  </c:pt>
                  <c:pt idx="2">
                    <c:v>yolo11s</c:v>
                  </c:pt>
                </c:lvl>
              </c:multiLvlStrCache>
            </c:multiLvlStrRef>
          </c:cat>
          <c:val>
            <c:numRef>
              <c:f>Sheet1!$B$2:$B$4</c:f>
              <c:numCache>
                <c:formatCode>General</c:formatCode>
                <c:ptCount val="3"/>
                <c:pt idx="0">
                  <c:v>73</c:v>
                </c:pt>
                <c:pt idx="1">
                  <c:v>114</c:v>
                </c:pt>
                <c:pt idx="2">
                  <c:v>126</c:v>
                </c:pt>
              </c:numCache>
            </c:numRef>
          </c:val>
        </c:ser>
        <c:dLbls>
          <c:numFmt formatCode="#,##0" sourceLinked="0"/>
          <c:txPr>
            <a:bodyPr/>
            <a:lstStyle/>
            <a:p>
              <a:pPr>
                <a:defRPr b="0" i="0" strike="noStrike" sz="1200" u="none">
                  <a:solidFill>
                    <a:srgbClr val="1F2937"/>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F2937"/>
                </a:solidFill>
                <a:latin typeface="Arial"/>
              </a:defRPr>
            </a:pPr>
            <a:endParaRPr lang="en-US"/>
          </a:p>
        </c:txPr>
        <c:crossAx val="2094734552"/>
        <c:crosses val="autoZero"/>
        <c:auto val="1"/>
        <c:lblAlgn val="ctr"/>
        <c:noMultiLvlLbl val="1"/>
      </c:catAx>
      <c:valAx>
        <c:axId val="2094734552"/>
        <c:scaling>
          <c:orientation val="minMax"/>
          <c:min val="0"/>
        </c:scaling>
        <c:delete val="0"/>
        <c:axPos val="l"/>
        <c:majorGridlines>
          <c:spPr>
            <a:ln w="635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728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everyone. Vision Assist is a small project with one goal: point a camera at a room and have it tell you, in plain English, what is in front of you. I'll show the idea, how it works, and be honest about what is still unfinished.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Picture someone walking into an unfamiliar room, or just someone whose hands and eyes are busy. A camera sees everything, but a video feed doesn't say anything. This is the gap we wanted to close. Sam is just an example person, not a real user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drawn illustration of the live view, not a real screenshot. Each green box is something the model found, with how sure it is. Underneath is the sentence we turn those boxes into. Notice it says where things are, and how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Under the hood there are three jobs. See: a model called YOLO finds objects in each frame. Decide: we work out where each thing is and how close, and clean up the noise. Say: we turn it into one short sentence and speak it. Same flow for the website and the desktop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list of objects isn't very helpful. 'Chair' tells you little; 'chair on your left' is useful. We split the picture into thirds for left, front and right. For distance we use how much of the frame the object fills. That's an estimate, not a measurement, and I'll come back to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we spoke every frame, you'd hear constant nonsense, because detections flicker. So we added two guardrails. An object must show up in at least three of the last five frames before we mention it. And we wait a few seconds between updates and don't repeat ourselves. Think of it as a polite narrator rather than a nervous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web page, drawn as a mock-up. The camera starts when you open it. Press Start live and it describes continuously with boxes on the video; Capture analyses one frame. You can also upload a photo, and there's a Remove button to clear it. Frames are shrunk to 640 pixels in the browser so it stays quick.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anyone who wants the plumbing. One Python process serves both the page and the analysis API. Each file has one job, which keeps it easy to change. The photo lens page uses a bigger model that knows far more objects, but it's slower, so live video keeps the fast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a normal CPU, with no graphics card, the default model takes about a tenth of a second per frame, and roughly a seventh of a second including the trip through the API. That's quick enough to feel live. If you need more speed, switch to the smaller yolov8n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be upfront. We've tested the logic with automated tests and checked the API on a real photo, but we haven't yet run it with a real webcam, which is the next thing to do. Distance is a guess from box size, and the model only knows the kinds of objects it was trained on. This is a prototype, not a safety device, and nobody should rely on it to navigate.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Vision Assist: a simple idea, a working prototype, and a clear list of what to do next. The most valuable thing now is trying it for real and hearing from people who would use it.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03A"/>
        </a:solidFill>
      </p:bgPr>
    </p:bg>
    <p:spTree>
      <p:nvGrpSpPr>
        <p:cNvPr id="1" name=""/>
        <p:cNvGrpSpPr/>
        <p:nvPr/>
      </p:nvGrpSpPr>
      <p:grpSpPr>
        <a:xfrm>
          <a:off x="0" y="0"/>
          <a:ext cx="0" cy="0"/>
          <a:chOff x="0" y="0"/>
          <a:chExt cx="0" cy="0"/>
        </a:xfrm>
      </p:grpSpPr>
      <p:sp>
        <p:nvSpPr>
          <p:cNvPr id="2" name="Shape 0"/>
          <p:cNvSpPr/>
          <p:nvPr/>
        </p:nvSpPr>
        <p:spPr>
          <a:xfrm>
            <a:off x="6126480" y="914400"/>
            <a:ext cx="2468880" cy="2468880"/>
          </a:xfrm>
          <a:prstGeom prst="ellipse">
            <a:avLst/>
          </a:prstGeom>
          <a:solidFill>
            <a:srgbClr val="0E9F8E">
              <a:alpha val="25000"/>
            </a:srgbClr>
          </a:solidFill>
          <a:ln w="12700">
            <a:solidFill>
              <a:srgbClr val="0E9F8E">
                <a:alpha val="25000"/>
              </a:srgbClr>
            </a:solidFill>
            <a:prstDash val="solid"/>
          </a:ln>
        </p:spPr>
      </p:sp>
      <p:sp>
        <p:nvSpPr>
          <p:cNvPr id="3" name="Shape 1"/>
          <p:cNvSpPr/>
          <p:nvPr/>
        </p:nvSpPr>
        <p:spPr>
          <a:xfrm>
            <a:off x="6720840" y="1508760"/>
            <a:ext cx="1280160" cy="1280160"/>
          </a:xfrm>
          <a:prstGeom prst="ellipse">
            <a:avLst/>
          </a:prstGeom>
          <a:solidFill>
            <a:srgbClr val="0E9F8E"/>
          </a:solidFill>
          <a:ln w="12700">
            <a:solidFill>
              <a:srgbClr val="0E9F8E"/>
            </a:solidFill>
            <a:prstDash val="solid"/>
          </a:ln>
        </p:spPr>
      </p:sp>
      <p:sp>
        <p:nvSpPr>
          <p:cNvPr id="4" name="Shape 2"/>
          <p:cNvSpPr/>
          <p:nvPr/>
        </p:nvSpPr>
        <p:spPr>
          <a:xfrm>
            <a:off x="7178040" y="1965960"/>
            <a:ext cx="365760" cy="365760"/>
          </a:xfrm>
          <a:prstGeom prst="ellipse">
            <a:avLst/>
          </a:prstGeom>
          <a:solidFill>
            <a:srgbClr val="13203A"/>
          </a:solidFill>
          <a:ln w="12700">
            <a:solidFill>
              <a:srgbClr val="13203A"/>
            </a:solidFill>
            <a:prstDash val="solid"/>
          </a:ln>
        </p:spPr>
      </p:sp>
      <p:sp>
        <p:nvSpPr>
          <p:cNvPr id="5" name="Text 3"/>
          <p:cNvSpPr txBox="1"/>
          <p:nvPr/>
        </p:nvSpPr>
        <p:spPr>
          <a:xfrm>
            <a:off x="548640" y="1463040"/>
            <a:ext cx="5486400" cy="914400"/>
          </a:xfrm>
          <a:prstGeom prst="rect">
            <a:avLst/>
          </a:prstGeom>
          <a:noFill/>
          <a:ln/>
        </p:spPr>
        <p:txBody>
          <a:bodyPr wrap="square" lIns="0" tIns="0" rIns="0" bIns="0" rtlCol="0" anchor="t"/>
          <a:lstStyle/>
          <a:p>
            <a:pPr indent="0" marL="0">
              <a:buNone/>
            </a:pPr>
            <a:r>
              <a:rPr lang="en-US" sz="5400" b="1" dirty="0">
                <a:solidFill>
                  <a:srgbClr val="FFFFFF"/>
                </a:solidFill>
                <a:latin typeface="Cambria" pitchFamily="34" charset="0"/>
                <a:ea typeface="Cambria" pitchFamily="34" charset="-122"/>
                <a:cs typeface="Cambria" pitchFamily="34" charset="-120"/>
              </a:rPr>
              <a:t>Vision Assist</a:t>
            </a:r>
            <a:endParaRPr lang="en-US" sz="5400" dirty="0"/>
          </a:p>
        </p:txBody>
      </p:sp>
      <p:sp>
        <p:nvSpPr>
          <p:cNvPr id="6" name="Text 4"/>
          <p:cNvSpPr txBox="1"/>
          <p:nvPr/>
        </p:nvSpPr>
        <p:spPr>
          <a:xfrm>
            <a:off x="548640" y="2514600"/>
            <a:ext cx="5486400" cy="457200"/>
          </a:xfrm>
          <a:prstGeom prst="rect">
            <a:avLst/>
          </a:prstGeom>
          <a:noFill/>
          <a:ln/>
        </p:spPr>
        <p:txBody>
          <a:bodyPr wrap="square" lIns="0" tIns="0" rIns="0" bIns="0" rtlCol="0" anchor="t"/>
          <a:lstStyle/>
          <a:p>
            <a:pPr indent="0" marL="0">
              <a:buNone/>
            </a:pPr>
            <a:r>
              <a:rPr lang="en-US" sz="2200" dirty="0">
                <a:solidFill>
                  <a:srgbClr val="7FE3D3"/>
                </a:solidFill>
                <a:latin typeface="Calibri" pitchFamily="34" charset="0"/>
                <a:ea typeface="Calibri" pitchFamily="34" charset="-122"/>
                <a:cs typeface="Calibri" pitchFamily="34" charset="-120"/>
              </a:rPr>
              <a:t>A camera that tells you what it sees.</a:t>
            </a:r>
            <a:endParaRPr lang="en-US" sz="2200" dirty="0"/>
          </a:p>
        </p:txBody>
      </p:sp>
      <p:sp>
        <p:nvSpPr>
          <p:cNvPr id="7" name="Text 5"/>
          <p:cNvSpPr txBox="1"/>
          <p:nvPr/>
        </p:nvSpPr>
        <p:spPr>
          <a:xfrm>
            <a:off x="548640" y="3108960"/>
            <a:ext cx="5486400" cy="365760"/>
          </a:xfrm>
          <a:prstGeom prst="rect">
            <a:avLst/>
          </a:prstGeom>
          <a:noFill/>
          <a:ln/>
        </p:spPr>
        <p:txBody>
          <a:bodyPr wrap="square" lIns="0" tIns="0" rIns="0" bIns="0" rtlCol="0" anchor="t"/>
          <a:lstStyle/>
          <a:p>
            <a:pPr indent="0" marL="0">
              <a:buNone/>
            </a:pPr>
            <a:r>
              <a:rPr lang="en-US" sz="1500" dirty="0">
                <a:solidFill>
                  <a:srgbClr val="B6C2D6"/>
                </a:solidFill>
                <a:latin typeface="Calibri" pitchFamily="34" charset="0"/>
                <a:ea typeface="Calibri" pitchFamily="34" charset="-122"/>
                <a:cs typeface="Calibri" pitchFamily="34" charset="-120"/>
              </a:rPr>
              <a:t>Real-time scene description, spoken out loud</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046720" cy="274320"/>
          </a:xfrm>
          <a:prstGeom prst="rect">
            <a:avLst/>
          </a:prstGeom>
          <a:noFill/>
          <a:ln/>
        </p:spPr>
        <p:txBody>
          <a:bodyPr wrap="square" lIns="0" tIns="0" rIns="0" bIns="0" rtlCol="0" anchor="ctr"/>
          <a:lstStyle/>
          <a:p>
            <a:pPr indent="0" marL="0">
              <a:buNone/>
            </a:pPr>
            <a:r>
              <a:rPr lang="en-US" sz="1300" b="1" dirty="0">
                <a:solidFill>
                  <a:srgbClr val="0E9F8E"/>
                </a:solidFill>
                <a:latin typeface="Calibri" pitchFamily="34" charset="0"/>
                <a:ea typeface="Calibri" pitchFamily="34" charset="-122"/>
                <a:cs typeface="Calibri" pitchFamily="34" charset="-120"/>
              </a:rPr>
              <a:t>The everyday problem</a:t>
            </a:r>
            <a:endParaRPr lang="en-US" sz="1300" dirty="0"/>
          </a:p>
        </p:txBody>
      </p:sp>
      <p:sp>
        <p:nvSpPr>
          <p:cNvPr id="3" name="Text 1"/>
          <p:cNvSpPr txBox="1"/>
          <p:nvPr/>
        </p:nvSpPr>
        <p:spPr>
          <a:xfrm>
            <a:off x="548640" y="658368"/>
            <a:ext cx="8046720" cy="685800"/>
          </a:xfrm>
          <a:prstGeom prst="rect">
            <a:avLst/>
          </a:prstGeom>
          <a:noFill/>
          <a:ln/>
        </p:spPr>
        <p:txBody>
          <a:bodyPr wrap="square" lIns="0" tIns="0" rIns="0" bIns="0" rtlCol="0" anchor="ctr"/>
          <a:lstStyle/>
          <a:p>
            <a:pPr indent="0" marL="0">
              <a:buNone/>
            </a:pPr>
            <a:r>
              <a:rPr lang="en-US" sz="3200" b="1" dirty="0">
                <a:solidFill>
                  <a:srgbClr val="13203A"/>
                </a:solidFill>
                <a:latin typeface="Cambria" pitchFamily="34" charset="0"/>
                <a:ea typeface="Cambria" pitchFamily="34" charset="-122"/>
                <a:cs typeface="Cambria" pitchFamily="34" charset="-120"/>
              </a:rPr>
              <a:t>Imagine walking into a room you can’t see</a:t>
            </a:r>
            <a:endParaRPr lang="en-US" sz="3200" dirty="0"/>
          </a:p>
        </p:txBody>
      </p:sp>
      <p:sp>
        <p:nvSpPr>
          <p:cNvPr id="5" name="Shape 2"/>
          <p:cNvSpPr/>
          <p:nvPr/>
        </p:nvSpPr>
        <p:spPr>
          <a:xfrm>
            <a:off x="548640" y="1554480"/>
            <a:ext cx="4023360" cy="2651760"/>
          </a:xfrm>
          <a:prstGeom prst="roundRect">
            <a:avLst>
              <a:gd name="adj" fmla="val 4138"/>
            </a:avLst>
          </a:prstGeom>
          <a:solidFill>
            <a:srgbClr val="F1F5F9"/>
          </a:solidFill>
          <a:ln w="12700">
            <a:solidFill>
              <a:srgbClr val="F1F5F9"/>
            </a:solidFill>
            <a:prstDash val="solid"/>
          </a:ln>
        </p:spPr>
      </p:sp>
      <p:sp>
        <p:nvSpPr>
          <p:cNvPr id="6" name="Text 3"/>
          <p:cNvSpPr txBox="1"/>
          <p:nvPr/>
        </p:nvSpPr>
        <p:spPr>
          <a:xfrm>
            <a:off x="822960" y="1783080"/>
            <a:ext cx="3474720" cy="640080"/>
          </a:xfrm>
          <a:prstGeom prst="rect">
            <a:avLst/>
          </a:prstGeom>
          <a:noFill/>
          <a:ln/>
        </p:spPr>
        <p:txBody>
          <a:bodyPr wrap="square" lIns="0" tIns="0" rIns="0" bIns="0" rtlCol="0" anchor="t"/>
          <a:lstStyle/>
          <a:p>
            <a:pPr indent="0" marL="0">
              <a:buNone/>
            </a:pPr>
            <a:r>
              <a:rPr lang="en-US" sz="1800" b="1" dirty="0">
                <a:solidFill>
                  <a:srgbClr val="13203A"/>
                </a:solidFill>
                <a:latin typeface="Calibri" pitchFamily="34" charset="0"/>
                <a:ea typeface="Calibri" pitchFamily="34" charset="-122"/>
                <a:cs typeface="Calibri" pitchFamily="34" charset="-120"/>
              </a:rPr>
              <a:t>Take Sam, walking into a new meeting room.</a:t>
            </a:r>
            <a:endParaRPr lang="en-US" sz="1800" dirty="0"/>
          </a:p>
        </p:txBody>
      </p:sp>
      <p:sp>
        <p:nvSpPr>
          <p:cNvPr id="7" name="Text 4"/>
          <p:cNvSpPr txBox="1"/>
          <p:nvPr/>
        </p:nvSpPr>
        <p:spPr>
          <a:xfrm>
            <a:off x="822960" y="2514600"/>
            <a:ext cx="3474720" cy="1554480"/>
          </a:xfrm>
          <a:prstGeom prst="rect">
            <a:avLst/>
          </a:prstGeom>
          <a:noFill/>
          <a:ln/>
        </p:spPr>
        <p:txBody>
          <a:bodyPr wrap="square" lIns="0" tIns="0" rIns="0" bIns="0" rtlCol="0" anchor="t"/>
          <a:lstStyle/>
          <a:p>
            <a:pPr indent="0" marL="0">
              <a:buNone/>
            </a:pPr>
            <a:r>
              <a:rPr lang="en-US" sz="1500" dirty="0">
                <a:solidFill>
                  <a:srgbClr val="1F2937"/>
                </a:solidFill>
                <a:latin typeface="Calibri" pitchFamily="34" charset="0"/>
                <a:ea typeface="Calibri" pitchFamily="34" charset="-122"/>
                <a:cs typeface="Calibri" pitchFamily="34" charset="-120"/>
              </a:rPr>
              <a:t>There’s a table, some chairs, and someone standing close by. A camera can see all of it. But a silent video helps no one who can’t look at a screen.</a:t>
            </a:r>
            <a:endParaRPr lang="en-US" sz="1500" dirty="0"/>
          </a:p>
        </p:txBody>
      </p:sp>
      <p:sp>
        <p:nvSpPr>
          <p:cNvPr id="8" name="Shape 5"/>
          <p:cNvSpPr/>
          <p:nvPr/>
        </p:nvSpPr>
        <p:spPr>
          <a:xfrm>
            <a:off x="4937760" y="1737360"/>
            <a:ext cx="3657600" cy="1371600"/>
          </a:xfrm>
          <a:prstGeom prst="roundRect">
            <a:avLst>
              <a:gd name="adj" fmla="val 16667"/>
            </a:avLst>
          </a:prstGeom>
          <a:solidFill>
            <a:srgbClr val="D8F3EC"/>
          </a:solidFill>
          <a:ln w="12700">
            <a:solidFill>
              <a:srgbClr val="D8F3EC"/>
            </a:solidFill>
            <a:prstDash val="solid"/>
          </a:ln>
        </p:spPr>
      </p:sp>
      <p:sp>
        <p:nvSpPr>
          <p:cNvPr id="9" name="Text 6"/>
          <p:cNvSpPr txBox="1"/>
          <p:nvPr/>
        </p:nvSpPr>
        <p:spPr>
          <a:xfrm>
            <a:off x="5212080" y="1965960"/>
            <a:ext cx="3108960" cy="914400"/>
          </a:xfrm>
          <a:prstGeom prst="rect">
            <a:avLst/>
          </a:prstGeom>
          <a:noFill/>
          <a:ln/>
        </p:spPr>
        <p:txBody>
          <a:bodyPr wrap="square" lIns="0" tIns="0" rIns="0" bIns="0" rtlCol="0" anchor="ctr"/>
          <a:lstStyle/>
          <a:p>
            <a:pPr indent="0" marL="0">
              <a:buNone/>
            </a:pPr>
            <a:r>
              <a:rPr lang="en-US" sz="1900" i="1" dirty="0">
                <a:solidFill>
                  <a:srgbClr val="13203A"/>
                </a:solidFill>
                <a:latin typeface="Cambria" pitchFamily="34" charset="0"/>
                <a:ea typeface="Cambria" pitchFamily="34" charset="-122"/>
                <a:cs typeface="Cambria" pitchFamily="34" charset="-120"/>
              </a:rPr>
              <a:t>“Very close: a person in front, two chairs on the left.”</a:t>
            </a:r>
            <a:endParaRPr lang="en-US" sz="1900" dirty="0"/>
          </a:p>
        </p:txBody>
      </p:sp>
      <p:sp>
        <p:nvSpPr>
          <p:cNvPr id="10" name="Text 7"/>
          <p:cNvSpPr txBox="1"/>
          <p:nvPr/>
        </p:nvSpPr>
        <p:spPr>
          <a:xfrm>
            <a:off x="4937760" y="3246120"/>
            <a:ext cx="3657600" cy="365760"/>
          </a:xfrm>
          <a:prstGeom prst="rect">
            <a:avLst/>
          </a:prstGeom>
          <a:noFill/>
          <a:ln/>
        </p:spPr>
        <p:txBody>
          <a:bodyPr wrap="square" lIns="0" tIns="0" rIns="0" bIns="0" rtlCol="0" anchor="t"/>
          <a:lstStyle/>
          <a:p>
            <a:pPr algn="ctr" indent="0" marL="0">
              <a:buNone/>
            </a:pPr>
            <a:r>
              <a:rPr lang="en-US" sz="1300" dirty="0">
                <a:solidFill>
                  <a:srgbClr val="6B7280"/>
                </a:solidFill>
                <a:latin typeface="Calibri" pitchFamily="34" charset="0"/>
                <a:ea typeface="Calibri" pitchFamily="34" charset="-122"/>
                <a:cs typeface="Calibri" pitchFamily="34" charset="-120"/>
              </a:rPr>
              <a:t>What Vision Assist says instead</a:t>
            </a:r>
            <a:endParaRPr lang="en-US" sz="1300" dirty="0"/>
          </a:p>
        </p:txBody>
      </p:sp>
      <p:sp>
        <p:nvSpPr>
          <p:cNvPr id="11" name="Text 8"/>
          <p:cNvSpPr txBox="1"/>
          <p:nvPr/>
        </p:nvSpPr>
        <p:spPr>
          <a:xfrm>
            <a:off x="548640" y="4434840"/>
            <a:ext cx="8046720" cy="274320"/>
          </a:xfrm>
          <a:prstGeom prst="rect">
            <a:avLst/>
          </a:prstGeom>
          <a:noFill/>
          <a:ln/>
        </p:spPr>
        <p:txBody>
          <a:bodyPr wrap="square" lIns="0" tIns="0" rIns="0" bIns="0" rtlCol="0" anchor="t"/>
          <a:lstStyle/>
          <a:p>
            <a:pPr indent="0" marL="0">
              <a:buNone/>
            </a:pPr>
            <a:r>
              <a:rPr lang="en-US" sz="1100" dirty="0">
                <a:solidFill>
                  <a:srgbClr val="6B7280"/>
                </a:solidFill>
                <a:latin typeface="Calibri" pitchFamily="34" charset="0"/>
                <a:ea typeface="Calibri" pitchFamily="34" charset="-122"/>
                <a:cs typeface="Calibri" pitchFamily="34" charset="-120"/>
              </a:rPr>
              <a:t>(Sam is an illustrative example, not a user study.)</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046720" cy="274320"/>
          </a:xfrm>
          <a:prstGeom prst="rect">
            <a:avLst/>
          </a:prstGeom>
          <a:noFill/>
          <a:ln/>
        </p:spPr>
        <p:txBody>
          <a:bodyPr wrap="square" lIns="0" tIns="0" rIns="0" bIns="0" rtlCol="0" anchor="ctr"/>
          <a:lstStyle/>
          <a:p>
            <a:pPr indent="0" marL="0">
              <a:buNone/>
            </a:pPr>
            <a:r>
              <a:rPr lang="en-US" sz="1300" b="1" dirty="0">
                <a:solidFill>
                  <a:srgbClr val="0E9F8E"/>
                </a:solidFill>
                <a:latin typeface="Calibri" pitchFamily="34" charset="0"/>
                <a:ea typeface="Calibri" pitchFamily="34" charset="-122"/>
                <a:cs typeface="Calibri" pitchFamily="34" charset="-120"/>
              </a:rPr>
              <a:t>The idea in one picture</a:t>
            </a:r>
            <a:endParaRPr lang="en-US" sz="1300" dirty="0"/>
          </a:p>
        </p:txBody>
      </p:sp>
      <p:sp>
        <p:nvSpPr>
          <p:cNvPr id="3" name="Text 1"/>
          <p:cNvSpPr txBox="1"/>
          <p:nvPr/>
        </p:nvSpPr>
        <p:spPr>
          <a:xfrm>
            <a:off x="548640" y="658368"/>
            <a:ext cx="8046720" cy="685800"/>
          </a:xfrm>
          <a:prstGeom prst="rect">
            <a:avLst/>
          </a:prstGeom>
          <a:noFill/>
          <a:ln/>
        </p:spPr>
        <p:txBody>
          <a:bodyPr wrap="square" lIns="0" tIns="0" rIns="0" bIns="0" rtlCol="0" anchor="ctr"/>
          <a:lstStyle/>
          <a:p>
            <a:pPr indent="0" marL="0">
              <a:buNone/>
            </a:pPr>
            <a:r>
              <a:rPr lang="en-US" sz="3200" b="1" dirty="0">
                <a:solidFill>
                  <a:srgbClr val="13203A"/>
                </a:solidFill>
                <a:latin typeface="Cambria" pitchFamily="34" charset="0"/>
                <a:ea typeface="Cambria" pitchFamily="34" charset="-122"/>
                <a:cs typeface="Cambria" pitchFamily="34" charset="-120"/>
              </a:rPr>
              <a:t>What it sees, and what it says</a:t>
            </a:r>
            <a:endParaRPr lang="en-US" sz="3200" dirty="0"/>
          </a:p>
        </p:txBody>
      </p:sp>
      <p:sp>
        <p:nvSpPr>
          <p:cNvPr id="5" name="Shape 2"/>
          <p:cNvSpPr/>
          <p:nvPr/>
        </p:nvSpPr>
        <p:spPr>
          <a:xfrm>
            <a:off x="548640" y="1508760"/>
            <a:ext cx="5120640" cy="2834640"/>
          </a:xfrm>
          <a:prstGeom prst="roundRect">
            <a:avLst>
              <a:gd name="adj" fmla="val 3226"/>
            </a:avLst>
          </a:prstGeom>
          <a:solidFill>
            <a:srgbClr val="1B2A44"/>
          </a:solidFill>
          <a:ln w="12700">
            <a:solidFill>
              <a:srgbClr val="1B2A44"/>
            </a:solidFill>
            <a:prstDash val="solid"/>
          </a:ln>
        </p:spPr>
      </p:sp>
      <p:sp>
        <p:nvSpPr>
          <p:cNvPr id="6" name="Shape 3"/>
          <p:cNvSpPr/>
          <p:nvPr/>
        </p:nvSpPr>
        <p:spPr>
          <a:xfrm>
            <a:off x="914400" y="2286000"/>
            <a:ext cx="822960" cy="1280160"/>
          </a:xfrm>
          <a:prstGeom prst="rect">
            <a:avLst/>
          </a:prstGeom>
          <a:solidFill>
            <a:srgbClr val="1B2A44"/>
          </a:solidFill>
          <a:ln w="31750">
            <a:solidFill>
              <a:srgbClr val="3DDC97"/>
            </a:solidFill>
            <a:prstDash val="solid"/>
          </a:ln>
        </p:spPr>
      </p:sp>
      <p:sp>
        <p:nvSpPr>
          <p:cNvPr id="7" name="Shape 4"/>
          <p:cNvSpPr/>
          <p:nvPr/>
        </p:nvSpPr>
        <p:spPr>
          <a:xfrm>
            <a:off x="914400" y="2029968"/>
            <a:ext cx="1051560" cy="256032"/>
          </a:xfrm>
          <a:prstGeom prst="rect">
            <a:avLst/>
          </a:prstGeom>
          <a:solidFill>
            <a:srgbClr val="3DDC97"/>
          </a:solidFill>
          <a:ln w="12700">
            <a:solidFill>
              <a:srgbClr val="3DDC97"/>
            </a:solidFill>
            <a:prstDash val="solid"/>
          </a:ln>
        </p:spPr>
      </p:sp>
      <p:sp>
        <p:nvSpPr>
          <p:cNvPr id="8" name="Text 5"/>
          <p:cNvSpPr txBox="1"/>
          <p:nvPr/>
        </p:nvSpPr>
        <p:spPr>
          <a:xfrm>
            <a:off x="960120" y="2029968"/>
            <a:ext cx="1005840" cy="256032"/>
          </a:xfrm>
          <a:prstGeom prst="rect">
            <a:avLst/>
          </a:prstGeom>
          <a:noFill/>
          <a:ln/>
        </p:spPr>
        <p:txBody>
          <a:bodyPr wrap="square" lIns="0" tIns="0" rIns="0" bIns="0" rtlCol="0" anchor="ctr"/>
          <a:lstStyle/>
          <a:p>
            <a:pPr indent="0" marL="0">
              <a:buNone/>
            </a:pPr>
            <a:r>
              <a:rPr lang="en-US" sz="1100" b="1" dirty="0">
                <a:solidFill>
                  <a:srgbClr val="0B1A12"/>
                </a:solidFill>
                <a:latin typeface="Calibri" pitchFamily="34" charset="0"/>
                <a:ea typeface="Calibri" pitchFamily="34" charset="-122"/>
                <a:cs typeface="Calibri" pitchFamily="34" charset="-120"/>
              </a:rPr>
              <a:t>chair 88%</a:t>
            </a:r>
            <a:endParaRPr lang="en-US" sz="1100" dirty="0"/>
          </a:p>
        </p:txBody>
      </p:sp>
      <p:sp>
        <p:nvSpPr>
          <p:cNvPr id="9" name="Shape 6"/>
          <p:cNvSpPr/>
          <p:nvPr/>
        </p:nvSpPr>
        <p:spPr>
          <a:xfrm>
            <a:off x="2103120" y="1828800"/>
            <a:ext cx="1371600" cy="2194560"/>
          </a:xfrm>
          <a:prstGeom prst="rect">
            <a:avLst/>
          </a:prstGeom>
          <a:solidFill>
            <a:srgbClr val="1B2A44"/>
          </a:solidFill>
          <a:ln w="31750">
            <a:solidFill>
              <a:srgbClr val="3DDC97"/>
            </a:solidFill>
            <a:prstDash val="solid"/>
          </a:ln>
        </p:spPr>
      </p:sp>
      <p:sp>
        <p:nvSpPr>
          <p:cNvPr id="10" name="Shape 7"/>
          <p:cNvSpPr/>
          <p:nvPr/>
        </p:nvSpPr>
        <p:spPr>
          <a:xfrm>
            <a:off x="2103120" y="1572768"/>
            <a:ext cx="1051560" cy="256032"/>
          </a:xfrm>
          <a:prstGeom prst="rect">
            <a:avLst/>
          </a:prstGeom>
          <a:solidFill>
            <a:srgbClr val="3DDC97"/>
          </a:solidFill>
          <a:ln w="12700">
            <a:solidFill>
              <a:srgbClr val="3DDC97"/>
            </a:solidFill>
            <a:prstDash val="solid"/>
          </a:ln>
        </p:spPr>
      </p:sp>
      <p:sp>
        <p:nvSpPr>
          <p:cNvPr id="11" name="Text 8"/>
          <p:cNvSpPr txBox="1"/>
          <p:nvPr/>
        </p:nvSpPr>
        <p:spPr>
          <a:xfrm>
            <a:off x="2148840" y="1572768"/>
            <a:ext cx="1005840" cy="256032"/>
          </a:xfrm>
          <a:prstGeom prst="rect">
            <a:avLst/>
          </a:prstGeom>
          <a:noFill/>
          <a:ln/>
        </p:spPr>
        <p:txBody>
          <a:bodyPr wrap="square" lIns="0" tIns="0" rIns="0" bIns="0" rtlCol="0" anchor="ctr"/>
          <a:lstStyle/>
          <a:p>
            <a:pPr indent="0" marL="0">
              <a:buNone/>
            </a:pPr>
            <a:r>
              <a:rPr lang="en-US" sz="1100" b="1" dirty="0">
                <a:solidFill>
                  <a:srgbClr val="0B1A12"/>
                </a:solidFill>
                <a:latin typeface="Calibri" pitchFamily="34" charset="0"/>
                <a:ea typeface="Calibri" pitchFamily="34" charset="-122"/>
                <a:cs typeface="Calibri" pitchFamily="34" charset="-120"/>
              </a:rPr>
              <a:t>person 94%</a:t>
            </a:r>
            <a:endParaRPr lang="en-US" sz="1100" dirty="0"/>
          </a:p>
        </p:txBody>
      </p:sp>
      <p:sp>
        <p:nvSpPr>
          <p:cNvPr id="12" name="Shape 9"/>
          <p:cNvSpPr/>
          <p:nvPr/>
        </p:nvSpPr>
        <p:spPr>
          <a:xfrm>
            <a:off x="4114800" y="2377440"/>
            <a:ext cx="914400" cy="1188720"/>
          </a:xfrm>
          <a:prstGeom prst="rect">
            <a:avLst/>
          </a:prstGeom>
          <a:solidFill>
            <a:srgbClr val="1B2A44"/>
          </a:solidFill>
          <a:ln w="31750">
            <a:solidFill>
              <a:srgbClr val="3DDC97"/>
            </a:solidFill>
            <a:prstDash val="solid"/>
          </a:ln>
        </p:spPr>
      </p:sp>
      <p:sp>
        <p:nvSpPr>
          <p:cNvPr id="13" name="Shape 10"/>
          <p:cNvSpPr/>
          <p:nvPr/>
        </p:nvSpPr>
        <p:spPr>
          <a:xfrm>
            <a:off x="4114800" y="2121408"/>
            <a:ext cx="1051560" cy="256032"/>
          </a:xfrm>
          <a:prstGeom prst="rect">
            <a:avLst/>
          </a:prstGeom>
          <a:solidFill>
            <a:srgbClr val="3DDC97"/>
          </a:solidFill>
          <a:ln w="12700">
            <a:solidFill>
              <a:srgbClr val="3DDC97"/>
            </a:solidFill>
            <a:prstDash val="solid"/>
          </a:ln>
        </p:spPr>
      </p:sp>
      <p:sp>
        <p:nvSpPr>
          <p:cNvPr id="14" name="Text 11"/>
          <p:cNvSpPr txBox="1"/>
          <p:nvPr/>
        </p:nvSpPr>
        <p:spPr>
          <a:xfrm>
            <a:off x="4160520" y="2121408"/>
            <a:ext cx="1005840" cy="256032"/>
          </a:xfrm>
          <a:prstGeom prst="rect">
            <a:avLst/>
          </a:prstGeom>
          <a:noFill/>
          <a:ln/>
        </p:spPr>
        <p:txBody>
          <a:bodyPr wrap="square" lIns="0" tIns="0" rIns="0" bIns="0" rtlCol="0" anchor="ctr"/>
          <a:lstStyle/>
          <a:p>
            <a:pPr indent="0" marL="0">
              <a:buNone/>
            </a:pPr>
            <a:r>
              <a:rPr lang="en-US" sz="1100" b="1" dirty="0">
                <a:solidFill>
                  <a:srgbClr val="0B1A12"/>
                </a:solidFill>
                <a:latin typeface="Calibri" pitchFamily="34" charset="0"/>
                <a:ea typeface="Calibri" pitchFamily="34" charset="-122"/>
                <a:cs typeface="Calibri" pitchFamily="34" charset="-120"/>
              </a:rPr>
              <a:t>chair 81%</a:t>
            </a:r>
            <a:endParaRPr lang="en-US" sz="1100" dirty="0"/>
          </a:p>
        </p:txBody>
      </p:sp>
      <p:sp>
        <p:nvSpPr>
          <p:cNvPr id="15" name="Text 12"/>
          <p:cNvSpPr txBox="1"/>
          <p:nvPr/>
        </p:nvSpPr>
        <p:spPr>
          <a:xfrm>
            <a:off x="731520" y="4023360"/>
            <a:ext cx="3657600" cy="274320"/>
          </a:xfrm>
          <a:prstGeom prst="rect">
            <a:avLst/>
          </a:prstGeom>
          <a:noFill/>
          <a:ln/>
        </p:spPr>
        <p:txBody>
          <a:bodyPr wrap="square" lIns="0" tIns="0" rIns="0" bIns="0" rtlCol="0" anchor="t"/>
          <a:lstStyle/>
          <a:p>
            <a:pPr indent="0" marL="0">
              <a:buNone/>
            </a:pPr>
            <a:r>
              <a:rPr lang="en-US" sz="1100" dirty="0">
                <a:solidFill>
                  <a:srgbClr val="9FB0CC"/>
                </a:solidFill>
                <a:latin typeface="Calibri" pitchFamily="34" charset="0"/>
                <a:ea typeface="Calibri" pitchFamily="34" charset="-122"/>
                <a:cs typeface="Calibri" pitchFamily="34" charset="-120"/>
              </a:rPr>
              <a:t>Live camera view (illustration)</a:t>
            </a:r>
            <a:endParaRPr lang="en-US" sz="1100" dirty="0"/>
          </a:p>
        </p:txBody>
      </p:sp>
      <p:sp>
        <p:nvSpPr>
          <p:cNvPr id="16" name="Shape 13"/>
          <p:cNvSpPr/>
          <p:nvPr/>
        </p:nvSpPr>
        <p:spPr>
          <a:xfrm>
            <a:off x="5943600" y="1508760"/>
            <a:ext cx="2651760" cy="2834640"/>
          </a:xfrm>
          <a:prstGeom prst="roundRect">
            <a:avLst>
              <a:gd name="adj" fmla="val 4138"/>
            </a:avLst>
          </a:prstGeom>
          <a:solidFill>
            <a:srgbClr val="F1F5F9"/>
          </a:solidFill>
          <a:ln w="12700">
            <a:solidFill>
              <a:srgbClr val="F1F5F9"/>
            </a:solidFill>
            <a:prstDash val="solid"/>
          </a:ln>
        </p:spPr>
      </p:sp>
      <p:sp>
        <p:nvSpPr>
          <p:cNvPr id="17" name="Text 14"/>
          <p:cNvSpPr txBox="1"/>
          <p:nvPr/>
        </p:nvSpPr>
        <p:spPr>
          <a:xfrm>
            <a:off x="6172200" y="1691640"/>
            <a:ext cx="2194560" cy="320040"/>
          </a:xfrm>
          <a:prstGeom prst="rect">
            <a:avLst/>
          </a:prstGeom>
          <a:noFill/>
          <a:ln/>
        </p:spPr>
        <p:txBody>
          <a:bodyPr wrap="square" lIns="0" tIns="0" rIns="0" bIns="0" rtlCol="0" anchor="t"/>
          <a:lstStyle/>
          <a:p>
            <a:pPr indent="0" marL="0">
              <a:buNone/>
            </a:pPr>
            <a:r>
              <a:rPr lang="en-US" sz="1300" b="1" dirty="0">
                <a:solidFill>
                  <a:srgbClr val="0E9F8E"/>
                </a:solidFill>
                <a:latin typeface="Calibri" pitchFamily="34" charset="0"/>
                <a:ea typeface="Calibri" pitchFamily="34" charset="-122"/>
                <a:cs typeface="Calibri" pitchFamily="34" charset="-120"/>
              </a:rPr>
              <a:t>Then it says…</a:t>
            </a:r>
            <a:endParaRPr lang="en-US" sz="1300" dirty="0"/>
          </a:p>
        </p:txBody>
      </p:sp>
      <p:sp>
        <p:nvSpPr>
          <p:cNvPr id="18" name="Text 15"/>
          <p:cNvSpPr txBox="1"/>
          <p:nvPr/>
        </p:nvSpPr>
        <p:spPr>
          <a:xfrm>
            <a:off x="6172200" y="2103120"/>
            <a:ext cx="2194560" cy="1463040"/>
          </a:xfrm>
          <a:prstGeom prst="rect">
            <a:avLst/>
          </a:prstGeom>
          <a:noFill/>
          <a:ln/>
        </p:spPr>
        <p:txBody>
          <a:bodyPr wrap="square" lIns="0" tIns="0" rIns="0" bIns="0" rtlCol="0" anchor="t"/>
          <a:lstStyle/>
          <a:p>
            <a:pPr indent="0" marL="0">
              <a:buNone/>
            </a:pPr>
            <a:r>
              <a:rPr lang="en-US" sz="1800" i="1" dirty="0">
                <a:solidFill>
                  <a:srgbClr val="13203A"/>
                </a:solidFill>
                <a:latin typeface="Cambria" pitchFamily="34" charset="0"/>
                <a:ea typeface="Cambria" pitchFamily="34" charset="-122"/>
                <a:cs typeface="Cambria" pitchFamily="34" charset="-120"/>
              </a:rPr>
              <a:t>very close: a person in front, two chairs on the left</a:t>
            </a:r>
            <a:endParaRPr lang="en-US" sz="1800" dirty="0"/>
          </a:p>
        </p:txBody>
      </p:sp>
      <p:sp>
        <p:nvSpPr>
          <p:cNvPr id="19" name="Text 16"/>
          <p:cNvSpPr txBox="1"/>
          <p:nvPr/>
        </p:nvSpPr>
        <p:spPr>
          <a:xfrm>
            <a:off x="6172200" y="3749040"/>
            <a:ext cx="2194560" cy="36576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on screen and out loud</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046720" cy="274320"/>
          </a:xfrm>
          <a:prstGeom prst="rect">
            <a:avLst/>
          </a:prstGeom>
          <a:noFill/>
          <a:ln/>
        </p:spPr>
        <p:txBody>
          <a:bodyPr wrap="square" lIns="0" tIns="0" rIns="0" bIns="0" rtlCol="0" anchor="ctr"/>
          <a:lstStyle/>
          <a:p>
            <a:pPr indent="0" marL="0">
              <a:buNone/>
            </a:pPr>
            <a:r>
              <a:rPr lang="en-US" sz="1300" b="1" dirty="0">
                <a:solidFill>
                  <a:srgbClr val="0E9F8E"/>
                </a:solidFill>
                <a:latin typeface="Calibri" pitchFamily="34" charset="0"/>
                <a:ea typeface="Calibri" pitchFamily="34" charset="-122"/>
                <a:cs typeface="Calibri" pitchFamily="34" charset="-120"/>
              </a:rPr>
              <a:t>Three simple steps</a:t>
            </a:r>
            <a:endParaRPr lang="en-US" sz="1300" dirty="0"/>
          </a:p>
        </p:txBody>
      </p:sp>
      <p:sp>
        <p:nvSpPr>
          <p:cNvPr id="3" name="Text 1"/>
          <p:cNvSpPr txBox="1"/>
          <p:nvPr/>
        </p:nvSpPr>
        <p:spPr>
          <a:xfrm>
            <a:off x="548640" y="658368"/>
            <a:ext cx="8046720" cy="685800"/>
          </a:xfrm>
          <a:prstGeom prst="rect">
            <a:avLst/>
          </a:prstGeom>
          <a:noFill/>
          <a:ln/>
        </p:spPr>
        <p:txBody>
          <a:bodyPr wrap="square" lIns="0" tIns="0" rIns="0" bIns="0" rtlCol="0" anchor="ctr"/>
          <a:lstStyle/>
          <a:p>
            <a:pPr indent="0" marL="0">
              <a:buNone/>
            </a:pPr>
            <a:r>
              <a:rPr lang="en-US" sz="3200" b="1" dirty="0">
                <a:solidFill>
                  <a:srgbClr val="13203A"/>
                </a:solidFill>
                <a:latin typeface="Cambria" pitchFamily="34" charset="0"/>
                <a:ea typeface="Cambria" pitchFamily="34" charset="-122"/>
                <a:cs typeface="Cambria" pitchFamily="34" charset="-120"/>
              </a:rPr>
              <a:t>How it works: see, decide, say</a:t>
            </a:r>
            <a:endParaRPr lang="en-US" sz="3200" dirty="0"/>
          </a:p>
        </p:txBody>
      </p:sp>
      <p:sp>
        <p:nvSpPr>
          <p:cNvPr id="5" name="Shape 2"/>
          <p:cNvSpPr/>
          <p:nvPr/>
        </p:nvSpPr>
        <p:spPr>
          <a:xfrm>
            <a:off x="548640" y="1600200"/>
            <a:ext cx="2606040" cy="2651760"/>
          </a:xfrm>
          <a:prstGeom prst="roundRect">
            <a:avLst>
              <a:gd name="adj" fmla="val 4211"/>
            </a:avLst>
          </a:prstGeom>
          <a:solidFill>
            <a:srgbClr val="F1F5F9"/>
          </a:solidFill>
          <a:ln w="12700">
            <a:solidFill>
              <a:srgbClr val="F1F5F9"/>
            </a:solidFill>
            <a:prstDash val="solid"/>
          </a:ln>
        </p:spPr>
      </p:sp>
      <p:sp>
        <p:nvSpPr>
          <p:cNvPr id="6" name="Shape 3"/>
          <p:cNvSpPr/>
          <p:nvPr/>
        </p:nvSpPr>
        <p:spPr>
          <a:xfrm>
            <a:off x="777240" y="1828800"/>
            <a:ext cx="640080" cy="640080"/>
          </a:xfrm>
          <a:prstGeom prst="ellipse">
            <a:avLst/>
          </a:prstGeom>
          <a:solidFill>
            <a:srgbClr val="0E9F8E"/>
          </a:solidFill>
          <a:ln w="12700">
            <a:solidFill>
              <a:srgbClr val="0E9F8E"/>
            </a:solidFill>
            <a:prstDash val="solid"/>
          </a:ln>
        </p:spPr>
      </p:sp>
      <p:sp>
        <p:nvSpPr>
          <p:cNvPr id="7" name="Text 4"/>
          <p:cNvSpPr txBox="1"/>
          <p:nvPr/>
        </p:nvSpPr>
        <p:spPr>
          <a:xfrm>
            <a:off x="777240" y="1828800"/>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8" name="Text 5"/>
          <p:cNvSpPr txBox="1"/>
          <p:nvPr/>
        </p:nvSpPr>
        <p:spPr>
          <a:xfrm>
            <a:off x="777240" y="2651760"/>
            <a:ext cx="2194560" cy="365760"/>
          </a:xfrm>
          <a:prstGeom prst="rect">
            <a:avLst/>
          </a:prstGeom>
          <a:noFill/>
          <a:ln/>
        </p:spPr>
        <p:txBody>
          <a:bodyPr wrap="square" lIns="0" tIns="0" rIns="0" bIns="0" rtlCol="0" anchor="t"/>
          <a:lstStyle/>
          <a:p>
            <a:pPr indent="0" marL="0">
              <a:buNone/>
            </a:pPr>
            <a:r>
              <a:rPr lang="en-US" sz="2200" b="1" dirty="0">
                <a:solidFill>
                  <a:srgbClr val="13203A"/>
                </a:solidFill>
                <a:latin typeface="Cambria" pitchFamily="34" charset="0"/>
                <a:ea typeface="Cambria" pitchFamily="34" charset="-122"/>
                <a:cs typeface="Cambria" pitchFamily="34" charset="-120"/>
              </a:rPr>
              <a:t>See</a:t>
            </a:r>
            <a:endParaRPr lang="en-US" sz="2200" dirty="0"/>
          </a:p>
        </p:txBody>
      </p:sp>
      <p:sp>
        <p:nvSpPr>
          <p:cNvPr id="9" name="Text 6"/>
          <p:cNvSpPr txBox="1"/>
          <p:nvPr/>
        </p:nvSpPr>
        <p:spPr>
          <a:xfrm>
            <a:off x="777240" y="3108960"/>
            <a:ext cx="2194560" cy="100584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A YOLO model looks at the latest camera frame and finds objects, each with a box and a confidence.</a:t>
            </a:r>
            <a:endParaRPr lang="en-US" sz="1300" dirty="0"/>
          </a:p>
        </p:txBody>
      </p:sp>
      <p:sp>
        <p:nvSpPr>
          <p:cNvPr id="10" name="Shape 7"/>
          <p:cNvSpPr/>
          <p:nvPr/>
        </p:nvSpPr>
        <p:spPr>
          <a:xfrm>
            <a:off x="3337560" y="1600200"/>
            <a:ext cx="2606040" cy="2651760"/>
          </a:xfrm>
          <a:prstGeom prst="roundRect">
            <a:avLst>
              <a:gd name="adj" fmla="val 4211"/>
            </a:avLst>
          </a:prstGeom>
          <a:solidFill>
            <a:srgbClr val="F1F5F9"/>
          </a:solidFill>
          <a:ln w="12700">
            <a:solidFill>
              <a:srgbClr val="F1F5F9"/>
            </a:solidFill>
            <a:prstDash val="solid"/>
          </a:ln>
        </p:spPr>
      </p:sp>
      <p:sp>
        <p:nvSpPr>
          <p:cNvPr id="11" name="Shape 8"/>
          <p:cNvSpPr/>
          <p:nvPr/>
        </p:nvSpPr>
        <p:spPr>
          <a:xfrm>
            <a:off x="3566160" y="1828800"/>
            <a:ext cx="640080" cy="640080"/>
          </a:xfrm>
          <a:prstGeom prst="ellipse">
            <a:avLst/>
          </a:prstGeom>
          <a:solidFill>
            <a:srgbClr val="F26B5B"/>
          </a:solidFill>
          <a:ln w="12700">
            <a:solidFill>
              <a:srgbClr val="F26B5B"/>
            </a:solidFill>
            <a:prstDash val="solid"/>
          </a:ln>
        </p:spPr>
      </p:sp>
      <p:sp>
        <p:nvSpPr>
          <p:cNvPr id="12" name="Text 9"/>
          <p:cNvSpPr txBox="1"/>
          <p:nvPr/>
        </p:nvSpPr>
        <p:spPr>
          <a:xfrm>
            <a:off x="3566160" y="1828800"/>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3" name="Text 10"/>
          <p:cNvSpPr txBox="1"/>
          <p:nvPr/>
        </p:nvSpPr>
        <p:spPr>
          <a:xfrm>
            <a:off x="3566160" y="2651760"/>
            <a:ext cx="2194560" cy="365760"/>
          </a:xfrm>
          <a:prstGeom prst="rect">
            <a:avLst/>
          </a:prstGeom>
          <a:noFill/>
          <a:ln/>
        </p:spPr>
        <p:txBody>
          <a:bodyPr wrap="square" lIns="0" tIns="0" rIns="0" bIns="0" rtlCol="0" anchor="t"/>
          <a:lstStyle/>
          <a:p>
            <a:pPr indent="0" marL="0">
              <a:buNone/>
            </a:pPr>
            <a:r>
              <a:rPr lang="en-US" sz="2200" b="1" dirty="0">
                <a:solidFill>
                  <a:srgbClr val="13203A"/>
                </a:solidFill>
                <a:latin typeface="Cambria" pitchFamily="34" charset="0"/>
                <a:ea typeface="Cambria" pitchFamily="34" charset="-122"/>
                <a:cs typeface="Cambria" pitchFamily="34" charset="-120"/>
              </a:rPr>
              <a:t>Decide</a:t>
            </a:r>
            <a:endParaRPr lang="en-US" sz="2200" dirty="0"/>
          </a:p>
        </p:txBody>
      </p:sp>
      <p:sp>
        <p:nvSpPr>
          <p:cNvPr id="14" name="Text 11"/>
          <p:cNvSpPr txBox="1"/>
          <p:nvPr/>
        </p:nvSpPr>
        <p:spPr>
          <a:xfrm>
            <a:off x="3566160" y="3108960"/>
            <a:ext cx="2194560" cy="100584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We work out left, in front or right, and how close, then smooth out flicker.</a:t>
            </a:r>
            <a:endParaRPr lang="en-US" sz="1300" dirty="0"/>
          </a:p>
        </p:txBody>
      </p:sp>
      <p:sp>
        <p:nvSpPr>
          <p:cNvPr id="15" name="Shape 12"/>
          <p:cNvSpPr/>
          <p:nvPr/>
        </p:nvSpPr>
        <p:spPr>
          <a:xfrm>
            <a:off x="6126480" y="1600200"/>
            <a:ext cx="2606040" cy="2651760"/>
          </a:xfrm>
          <a:prstGeom prst="roundRect">
            <a:avLst>
              <a:gd name="adj" fmla="val 4211"/>
            </a:avLst>
          </a:prstGeom>
          <a:solidFill>
            <a:srgbClr val="F1F5F9"/>
          </a:solidFill>
          <a:ln w="12700">
            <a:solidFill>
              <a:srgbClr val="F1F5F9"/>
            </a:solidFill>
            <a:prstDash val="solid"/>
          </a:ln>
        </p:spPr>
      </p:sp>
      <p:sp>
        <p:nvSpPr>
          <p:cNvPr id="16" name="Shape 13"/>
          <p:cNvSpPr/>
          <p:nvPr/>
        </p:nvSpPr>
        <p:spPr>
          <a:xfrm>
            <a:off x="6355080" y="1828800"/>
            <a:ext cx="640080" cy="640080"/>
          </a:xfrm>
          <a:prstGeom prst="ellipse">
            <a:avLst/>
          </a:prstGeom>
          <a:solidFill>
            <a:srgbClr val="13203A"/>
          </a:solidFill>
          <a:ln w="12700">
            <a:solidFill>
              <a:srgbClr val="13203A"/>
            </a:solidFill>
            <a:prstDash val="solid"/>
          </a:ln>
        </p:spPr>
      </p:sp>
      <p:sp>
        <p:nvSpPr>
          <p:cNvPr id="17" name="Text 14"/>
          <p:cNvSpPr txBox="1"/>
          <p:nvPr/>
        </p:nvSpPr>
        <p:spPr>
          <a:xfrm>
            <a:off x="6355080" y="1828800"/>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8" name="Text 15"/>
          <p:cNvSpPr txBox="1"/>
          <p:nvPr/>
        </p:nvSpPr>
        <p:spPr>
          <a:xfrm>
            <a:off x="6355080" y="2651760"/>
            <a:ext cx="2194560" cy="365760"/>
          </a:xfrm>
          <a:prstGeom prst="rect">
            <a:avLst/>
          </a:prstGeom>
          <a:noFill/>
          <a:ln/>
        </p:spPr>
        <p:txBody>
          <a:bodyPr wrap="square" lIns="0" tIns="0" rIns="0" bIns="0" rtlCol="0" anchor="t"/>
          <a:lstStyle/>
          <a:p>
            <a:pPr indent="0" marL="0">
              <a:buNone/>
            </a:pPr>
            <a:r>
              <a:rPr lang="en-US" sz="2200" b="1" dirty="0">
                <a:solidFill>
                  <a:srgbClr val="13203A"/>
                </a:solidFill>
                <a:latin typeface="Cambria" pitchFamily="34" charset="0"/>
                <a:ea typeface="Cambria" pitchFamily="34" charset="-122"/>
                <a:cs typeface="Cambria" pitchFamily="34" charset="-120"/>
              </a:rPr>
              <a:t>Say</a:t>
            </a:r>
            <a:endParaRPr lang="en-US" sz="2200" dirty="0"/>
          </a:p>
        </p:txBody>
      </p:sp>
      <p:sp>
        <p:nvSpPr>
          <p:cNvPr id="19" name="Text 16"/>
          <p:cNvSpPr txBox="1"/>
          <p:nvPr/>
        </p:nvSpPr>
        <p:spPr>
          <a:xfrm>
            <a:off x="6355080" y="3108960"/>
            <a:ext cx="2194560" cy="100584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Everything becomes one short sentence, shown on screen and read aloud.</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046720" cy="274320"/>
          </a:xfrm>
          <a:prstGeom prst="rect">
            <a:avLst/>
          </a:prstGeom>
          <a:noFill/>
          <a:ln/>
        </p:spPr>
        <p:txBody>
          <a:bodyPr wrap="square" lIns="0" tIns="0" rIns="0" bIns="0" rtlCol="0" anchor="ctr"/>
          <a:lstStyle/>
          <a:p>
            <a:pPr indent="0" marL="0">
              <a:buNone/>
            </a:pPr>
            <a:r>
              <a:rPr lang="en-US" sz="1300" b="1" dirty="0">
                <a:solidFill>
                  <a:srgbClr val="0E9F8E"/>
                </a:solidFill>
                <a:latin typeface="Calibri" pitchFamily="34" charset="0"/>
                <a:ea typeface="Calibri" pitchFamily="34" charset="-122"/>
                <a:cs typeface="Calibri" pitchFamily="34" charset="-120"/>
              </a:rPr>
              <a:t>Making it useful, not just accurate</a:t>
            </a:r>
            <a:endParaRPr lang="en-US" sz="1300" dirty="0"/>
          </a:p>
        </p:txBody>
      </p:sp>
      <p:sp>
        <p:nvSpPr>
          <p:cNvPr id="3" name="Text 1"/>
          <p:cNvSpPr txBox="1"/>
          <p:nvPr/>
        </p:nvSpPr>
        <p:spPr>
          <a:xfrm>
            <a:off x="548640" y="658368"/>
            <a:ext cx="8046720" cy="685800"/>
          </a:xfrm>
          <a:prstGeom prst="rect">
            <a:avLst/>
          </a:prstGeom>
          <a:noFill/>
          <a:ln/>
        </p:spPr>
        <p:txBody>
          <a:bodyPr wrap="square" lIns="0" tIns="0" rIns="0" bIns="0" rtlCol="0" anchor="ctr"/>
          <a:lstStyle/>
          <a:p>
            <a:pPr indent="0" marL="0">
              <a:buNone/>
            </a:pPr>
            <a:r>
              <a:rPr lang="en-US" sz="3200" b="1" dirty="0">
                <a:solidFill>
                  <a:srgbClr val="13203A"/>
                </a:solidFill>
                <a:latin typeface="Cambria" pitchFamily="34" charset="0"/>
                <a:ea typeface="Cambria" pitchFamily="34" charset="-122"/>
                <a:cs typeface="Cambria" pitchFamily="34" charset="-120"/>
              </a:rPr>
              <a:t>Where is it, and how close?</a:t>
            </a:r>
            <a:endParaRPr lang="en-US" sz="3200" dirty="0"/>
          </a:p>
        </p:txBody>
      </p:sp>
      <p:sp>
        <p:nvSpPr>
          <p:cNvPr id="5" name="Text 2"/>
          <p:cNvSpPr txBox="1"/>
          <p:nvPr/>
        </p:nvSpPr>
        <p:spPr>
          <a:xfrm>
            <a:off x="548640" y="1508760"/>
            <a:ext cx="3840480" cy="365760"/>
          </a:xfrm>
          <a:prstGeom prst="rect">
            <a:avLst/>
          </a:prstGeom>
          <a:noFill/>
          <a:ln/>
        </p:spPr>
        <p:txBody>
          <a:bodyPr wrap="square" lIns="0" tIns="0" rIns="0" bIns="0" rtlCol="0" anchor="t"/>
          <a:lstStyle/>
          <a:p>
            <a:pPr indent="0" marL="0">
              <a:buNone/>
            </a:pPr>
            <a:r>
              <a:rPr lang="en-US" sz="2000" b="1" dirty="0">
                <a:solidFill>
                  <a:srgbClr val="13203A"/>
                </a:solidFill>
                <a:latin typeface="Cambria" pitchFamily="34" charset="0"/>
                <a:ea typeface="Cambria" pitchFamily="34" charset="-122"/>
                <a:cs typeface="Cambria" pitchFamily="34" charset="-120"/>
              </a:rPr>
              <a:t>Left, front, right</a:t>
            </a:r>
            <a:endParaRPr lang="en-US" sz="2000" dirty="0"/>
          </a:p>
        </p:txBody>
      </p:sp>
      <p:sp>
        <p:nvSpPr>
          <p:cNvPr id="6" name="Shape 3"/>
          <p:cNvSpPr/>
          <p:nvPr/>
        </p:nvSpPr>
        <p:spPr>
          <a:xfrm>
            <a:off x="548640" y="1965960"/>
            <a:ext cx="1261872" cy="914400"/>
          </a:xfrm>
          <a:prstGeom prst="roundRect">
            <a:avLst>
              <a:gd name="adj" fmla="val 8000"/>
            </a:avLst>
          </a:prstGeom>
          <a:solidFill>
            <a:srgbClr val="DCEBFA"/>
          </a:solidFill>
          <a:ln w="12700">
            <a:solidFill>
              <a:srgbClr val="DCEBFA"/>
            </a:solidFill>
            <a:prstDash val="solid"/>
          </a:ln>
        </p:spPr>
      </p:sp>
      <p:sp>
        <p:nvSpPr>
          <p:cNvPr id="7" name="Text 4"/>
          <p:cNvSpPr txBox="1"/>
          <p:nvPr/>
        </p:nvSpPr>
        <p:spPr>
          <a:xfrm>
            <a:off x="548640" y="1965960"/>
            <a:ext cx="1261872" cy="914400"/>
          </a:xfrm>
          <a:prstGeom prst="rect">
            <a:avLst/>
          </a:prstGeom>
          <a:noFill/>
          <a:ln/>
        </p:spPr>
        <p:txBody>
          <a:bodyPr wrap="square" lIns="0" tIns="0" rIns="0" bIns="0" rtlCol="0" anchor="ctr"/>
          <a:lstStyle/>
          <a:p>
            <a:pPr algn="ctr" indent="0" marL="0">
              <a:buNone/>
            </a:pPr>
            <a:r>
              <a:rPr lang="en-US" sz="1300" b="1" dirty="0">
                <a:solidFill>
                  <a:srgbClr val="13203A"/>
                </a:solidFill>
                <a:latin typeface="Calibri" pitchFamily="34" charset="0"/>
                <a:ea typeface="Calibri" pitchFamily="34" charset="-122"/>
                <a:cs typeface="Calibri" pitchFamily="34" charset="-120"/>
              </a:rPr>
              <a:t>on the left</a:t>
            </a:r>
            <a:endParaRPr lang="en-US" sz="1300" dirty="0"/>
          </a:p>
        </p:txBody>
      </p:sp>
      <p:sp>
        <p:nvSpPr>
          <p:cNvPr id="8" name="Shape 5"/>
          <p:cNvSpPr/>
          <p:nvPr/>
        </p:nvSpPr>
        <p:spPr>
          <a:xfrm>
            <a:off x="1874520" y="1965960"/>
            <a:ext cx="1261872" cy="914400"/>
          </a:xfrm>
          <a:prstGeom prst="roundRect">
            <a:avLst>
              <a:gd name="adj" fmla="val 8000"/>
            </a:avLst>
          </a:prstGeom>
          <a:solidFill>
            <a:srgbClr val="0E9F8E"/>
          </a:solidFill>
          <a:ln w="12700">
            <a:solidFill>
              <a:srgbClr val="0E9F8E"/>
            </a:solidFill>
            <a:prstDash val="solid"/>
          </a:ln>
        </p:spPr>
      </p:sp>
      <p:sp>
        <p:nvSpPr>
          <p:cNvPr id="9" name="Text 6"/>
          <p:cNvSpPr txBox="1"/>
          <p:nvPr/>
        </p:nvSpPr>
        <p:spPr>
          <a:xfrm>
            <a:off x="1874520" y="1965960"/>
            <a:ext cx="1261872" cy="9144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in front</a:t>
            </a:r>
            <a:endParaRPr lang="en-US" sz="1300" dirty="0"/>
          </a:p>
        </p:txBody>
      </p:sp>
      <p:sp>
        <p:nvSpPr>
          <p:cNvPr id="10" name="Shape 7"/>
          <p:cNvSpPr/>
          <p:nvPr/>
        </p:nvSpPr>
        <p:spPr>
          <a:xfrm>
            <a:off x="3200400" y="1965960"/>
            <a:ext cx="1261872" cy="914400"/>
          </a:xfrm>
          <a:prstGeom prst="roundRect">
            <a:avLst>
              <a:gd name="adj" fmla="val 8000"/>
            </a:avLst>
          </a:prstGeom>
          <a:solidFill>
            <a:srgbClr val="DCEBFA"/>
          </a:solidFill>
          <a:ln w="12700">
            <a:solidFill>
              <a:srgbClr val="DCEBFA"/>
            </a:solidFill>
            <a:prstDash val="solid"/>
          </a:ln>
        </p:spPr>
      </p:sp>
      <p:sp>
        <p:nvSpPr>
          <p:cNvPr id="11" name="Text 8"/>
          <p:cNvSpPr txBox="1"/>
          <p:nvPr/>
        </p:nvSpPr>
        <p:spPr>
          <a:xfrm>
            <a:off x="3200400" y="1965960"/>
            <a:ext cx="1261872" cy="914400"/>
          </a:xfrm>
          <a:prstGeom prst="rect">
            <a:avLst/>
          </a:prstGeom>
          <a:noFill/>
          <a:ln/>
        </p:spPr>
        <p:txBody>
          <a:bodyPr wrap="square" lIns="0" tIns="0" rIns="0" bIns="0" rtlCol="0" anchor="ctr"/>
          <a:lstStyle/>
          <a:p>
            <a:pPr algn="ctr" indent="0" marL="0">
              <a:buNone/>
            </a:pPr>
            <a:r>
              <a:rPr lang="en-US" sz="1300" b="1" dirty="0">
                <a:solidFill>
                  <a:srgbClr val="13203A"/>
                </a:solidFill>
                <a:latin typeface="Calibri" pitchFamily="34" charset="0"/>
                <a:ea typeface="Calibri" pitchFamily="34" charset="-122"/>
                <a:cs typeface="Calibri" pitchFamily="34" charset="-120"/>
              </a:rPr>
              <a:t>on the right</a:t>
            </a:r>
            <a:endParaRPr lang="en-US" sz="1300" dirty="0"/>
          </a:p>
        </p:txBody>
      </p:sp>
      <p:sp>
        <p:nvSpPr>
          <p:cNvPr id="12" name="Text 9"/>
          <p:cNvSpPr txBox="1"/>
          <p:nvPr/>
        </p:nvSpPr>
        <p:spPr>
          <a:xfrm>
            <a:off x="548640" y="3017520"/>
            <a:ext cx="3840480" cy="731520"/>
          </a:xfrm>
          <a:prstGeom prst="rect">
            <a:avLst/>
          </a:prstGeom>
          <a:noFill/>
          <a:ln/>
        </p:spPr>
        <p:txBody>
          <a:bodyPr wrap="square" lIns="0" tIns="0" rIns="0" bIns="0" rtlCol="0" anchor="t"/>
          <a:lstStyle/>
          <a:p>
            <a:pPr indent="0" marL="0">
              <a:buNone/>
            </a:pPr>
            <a:r>
              <a:rPr lang="en-US" sz="1300" dirty="0">
                <a:solidFill>
                  <a:srgbClr val="6B7280"/>
                </a:solidFill>
                <a:latin typeface="Calibri" pitchFamily="34" charset="0"/>
                <a:ea typeface="Calibri" pitchFamily="34" charset="-122"/>
                <a:cs typeface="Calibri" pitchFamily="34" charset="-120"/>
              </a:rPr>
              <a:t>The frame is split into three equal parts, based on the middle of each object.</a:t>
            </a:r>
            <a:endParaRPr lang="en-US" sz="1300" dirty="0"/>
          </a:p>
        </p:txBody>
      </p:sp>
      <p:sp>
        <p:nvSpPr>
          <p:cNvPr id="13" name="Text 10"/>
          <p:cNvSpPr txBox="1"/>
          <p:nvPr/>
        </p:nvSpPr>
        <p:spPr>
          <a:xfrm>
            <a:off x="4846320" y="1508760"/>
            <a:ext cx="3749040" cy="365760"/>
          </a:xfrm>
          <a:prstGeom prst="rect">
            <a:avLst/>
          </a:prstGeom>
          <a:noFill/>
          <a:ln/>
        </p:spPr>
        <p:txBody>
          <a:bodyPr wrap="square" lIns="0" tIns="0" rIns="0" bIns="0" rtlCol="0" anchor="t"/>
          <a:lstStyle/>
          <a:p>
            <a:pPr indent="0" marL="0">
              <a:buNone/>
            </a:pPr>
            <a:r>
              <a:rPr lang="en-US" sz="2000" b="1" dirty="0">
                <a:solidFill>
                  <a:srgbClr val="13203A"/>
                </a:solidFill>
                <a:latin typeface="Cambria" pitchFamily="34" charset="0"/>
                <a:ea typeface="Cambria" pitchFamily="34" charset="-122"/>
                <a:cs typeface="Cambria" pitchFamily="34" charset="-120"/>
              </a:rPr>
              <a:t>How close</a:t>
            </a:r>
            <a:endParaRPr lang="en-US" sz="2000" dirty="0"/>
          </a:p>
        </p:txBody>
      </p:sp>
      <p:sp>
        <p:nvSpPr>
          <p:cNvPr id="14" name="Shape 11"/>
          <p:cNvSpPr/>
          <p:nvPr/>
        </p:nvSpPr>
        <p:spPr>
          <a:xfrm>
            <a:off x="4846320" y="2084832"/>
            <a:ext cx="201168" cy="201168"/>
          </a:xfrm>
          <a:prstGeom prst="ellipse">
            <a:avLst/>
          </a:prstGeom>
          <a:solidFill>
            <a:srgbClr val="F26B5B"/>
          </a:solidFill>
          <a:ln w="12700">
            <a:solidFill>
              <a:srgbClr val="F26B5B"/>
            </a:solidFill>
            <a:prstDash val="solid"/>
          </a:ln>
        </p:spPr>
      </p:sp>
      <p:sp>
        <p:nvSpPr>
          <p:cNvPr id="15" name="Text 12"/>
          <p:cNvSpPr txBox="1"/>
          <p:nvPr/>
        </p:nvSpPr>
        <p:spPr>
          <a:xfrm>
            <a:off x="5166360" y="2011680"/>
            <a:ext cx="3474720" cy="411480"/>
          </a:xfrm>
          <a:prstGeom prst="rect">
            <a:avLst/>
          </a:prstGeom>
          <a:noFill/>
          <a:ln/>
        </p:spPr>
        <p:txBody>
          <a:bodyPr wrap="square" lIns="0" tIns="0" rIns="0" bIns="0" rtlCol="0" anchor="t"/>
          <a:lstStyle/>
          <a:p>
            <a:pPr indent="0" marL="0">
              <a:buNone/>
            </a:pPr>
            <a:r>
              <a:rPr lang="en-US" sz="1400" b="1" dirty="0">
                <a:solidFill>
                  <a:srgbClr val="13203A"/>
                </a:solidFill>
                <a:latin typeface="Calibri" pitchFamily="34" charset="0"/>
                <a:ea typeface="Calibri" pitchFamily="34" charset="-122"/>
                <a:cs typeface="Calibri" pitchFamily="34" charset="-120"/>
              </a:rPr>
              <a:t>Very close  </a:t>
            </a:r>
            <a:pPr indent="0" marL="0">
              <a:buNone/>
            </a:pPr>
            <a:r>
              <a:rPr lang="en-US" sz="1400" dirty="0">
                <a:solidFill>
                  <a:srgbClr val="1F2937"/>
                </a:solidFill>
                <a:latin typeface="Calibri" pitchFamily="34" charset="0"/>
                <a:ea typeface="Calibri" pitchFamily="34" charset="-122"/>
                <a:cs typeface="Calibri" pitchFamily="34" charset="-120"/>
              </a:rPr>
              <a:t>fills a quarter of the frame or more</a:t>
            </a:r>
            <a:endParaRPr lang="en-US" sz="1400" dirty="0"/>
          </a:p>
        </p:txBody>
      </p:sp>
      <p:sp>
        <p:nvSpPr>
          <p:cNvPr id="16" name="Shape 13"/>
          <p:cNvSpPr/>
          <p:nvPr/>
        </p:nvSpPr>
        <p:spPr>
          <a:xfrm>
            <a:off x="4846320" y="2651760"/>
            <a:ext cx="201168" cy="201168"/>
          </a:xfrm>
          <a:prstGeom prst="ellipse">
            <a:avLst/>
          </a:prstGeom>
          <a:solidFill>
            <a:srgbClr val="0E9F8E"/>
          </a:solidFill>
          <a:ln w="12700">
            <a:solidFill>
              <a:srgbClr val="0E9F8E"/>
            </a:solidFill>
            <a:prstDash val="solid"/>
          </a:ln>
        </p:spPr>
      </p:sp>
      <p:sp>
        <p:nvSpPr>
          <p:cNvPr id="17" name="Text 14"/>
          <p:cNvSpPr txBox="1"/>
          <p:nvPr/>
        </p:nvSpPr>
        <p:spPr>
          <a:xfrm>
            <a:off x="5166360" y="2578608"/>
            <a:ext cx="3474720" cy="411480"/>
          </a:xfrm>
          <a:prstGeom prst="rect">
            <a:avLst/>
          </a:prstGeom>
          <a:noFill/>
          <a:ln/>
        </p:spPr>
        <p:txBody>
          <a:bodyPr wrap="square" lIns="0" tIns="0" rIns="0" bIns="0" rtlCol="0" anchor="t"/>
          <a:lstStyle/>
          <a:p>
            <a:pPr indent="0" marL="0">
              <a:buNone/>
            </a:pPr>
            <a:r>
              <a:rPr lang="en-US" sz="1400" b="1" dirty="0">
                <a:solidFill>
                  <a:srgbClr val="13203A"/>
                </a:solidFill>
                <a:latin typeface="Calibri" pitchFamily="34" charset="0"/>
                <a:ea typeface="Calibri" pitchFamily="34" charset="-122"/>
                <a:cs typeface="Calibri" pitchFamily="34" charset="-120"/>
              </a:rPr>
              <a:t>Near  </a:t>
            </a:r>
            <a:pPr indent="0" marL="0">
              <a:buNone/>
            </a:pPr>
            <a:r>
              <a:rPr lang="en-US" sz="1400" dirty="0">
                <a:solidFill>
                  <a:srgbClr val="1F2937"/>
                </a:solidFill>
                <a:latin typeface="Calibri" pitchFamily="34" charset="0"/>
                <a:ea typeface="Calibri" pitchFamily="34" charset="-122"/>
                <a:cs typeface="Calibri" pitchFamily="34" charset="-120"/>
              </a:rPr>
              <a:t>fills about a twelfth or more</a:t>
            </a:r>
            <a:endParaRPr lang="en-US" sz="1400" dirty="0"/>
          </a:p>
        </p:txBody>
      </p:sp>
      <p:sp>
        <p:nvSpPr>
          <p:cNvPr id="18" name="Shape 15"/>
          <p:cNvSpPr/>
          <p:nvPr/>
        </p:nvSpPr>
        <p:spPr>
          <a:xfrm>
            <a:off x="4846320" y="3218688"/>
            <a:ext cx="201168" cy="201168"/>
          </a:xfrm>
          <a:prstGeom prst="ellipse">
            <a:avLst/>
          </a:prstGeom>
          <a:solidFill>
            <a:srgbClr val="6B7280"/>
          </a:solidFill>
          <a:ln w="12700">
            <a:solidFill>
              <a:srgbClr val="6B7280"/>
            </a:solidFill>
            <a:prstDash val="solid"/>
          </a:ln>
        </p:spPr>
      </p:sp>
      <p:sp>
        <p:nvSpPr>
          <p:cNvPr id="19" name="Text 16"/>
          <p:cNvSpPr txBox="1"/>
          <p:nvPr/>
        </p:nvSpPr>
        <p:spPr>
          <a:xfrm>
            <a:off x="5166360" y="3145536"/>
            <a:ext cx="3474720" cy="411480"/>
          </a:xfrm>
          <a:prstGeom prst="rect">
            <a:avLst/>
          </a:prstGeom>
          <a:noFill/>
          <a:ln/>
        </p:spPr>
        <p:txBody>
          <a:bodyPr wrap="square" lIns="0" tIns="0" rIns="0" bIns="0" rtlCol="0" anchor="t"/>
          <a:lstStyle/>
          <a:p>
            <a:pPr indent="0" marL="0">
              <a:buNone/>
            </a:pPr>
            <a:r>
              <a:rPr lang="en-US" sz="1400" b="1" dirty="0">
                <a:solidFill>
                  <a:srgbClr val="13203A"/>
                </a:solidFill>
                <a:latin typeface="Calibri" pitchFamily="34" charset="0"/>
                <a:ea typeface="Calibri" pitchFamily="34" charset="-122"/>
                <a:cs typeface="Calibri" pitchFamily="34" charset="-120"/>
              </a:rPr>
              <a:t>Far  </a:t>
            </a:r>
            <a:pPr indent="0" marL="0">
              <a:buNone/>
            </a:pPr>
            <a:r>
              <a:rPr lang="en-US" sz="1400" dirty="0">
                <a:solidFill>
                  <a:srgbClr val="1F2937"/>
                </a:solidFill>
                <a:latin typeface="Calibri" pitchFamily="34" charset="0"/>
                <a:ea typeface="Calibri" pitchFamily="34" charset="-122"/>
                <a:cs typeface="Calibri" pitchFamily="34" charset="-120"/>
              </a:rPr>
              <a:t>anything smaller</a:t>
            </a:r>
            <a:endParaRPr lang="en-US" sz="1400" dirty="0"/>
          </a:p>
        </p:txBody>
      </p:sp>
      <p:sp>
        <p:nvSpPr>
          <p:cNvPr id="20" name="Text 17"/>
          <p:cNvSpPr txBox="1"/>
          <p:nvPr/>
        </p:nvSpPr>
        <p:spPr>
          <a:xfrm>
            <a:off x="548640" y="3794760"/>
            <a:ext cx="8046720" cy="73152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It also groups things (“two chairs”), handles plurals (people, knives), reads the closest objects first, and keeps it to four phrases at most.</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046720" cy="274320"/>
          </a:xfrm>
          <a:prstGeom prst="rect">
            <a:avLst/>
          </a:prstGeom>
          <a:noFill/>
          <a:ln/>
        </p:spPr>
        <p:txBody>
          <a:bodyPr wrap="square" lIns="0" tIns="0" rIns="0" bIns="0" rtlCol="0" anchor="ctr"/>
          <a:lstStyle/>
          <a:p>
            <a:pPr indent="0" marL="0">
              <a:buNone/>
            </a:pPr>
            <a:r>
              <a:rPr lang="en-US" sz="1300" b="1" dirty="0">
                <a:solidFill>
                  <a:srgbClr val="0E9F8E"/>
                </a:solidFill>
                <a:latin typeface="Calibri" pitchFamily="34" charset="0"/>
                <a:ea typeface="Calibri" pitchFamily="34" charset="-122"/>
                <a:cs typeface="Calibri" pitchFamily="34" charset="-120"/>
              </a:rPr>
              <a:t>Calm by design</a:t>
            </a:r>
            <a:endParaRPr lang="en-US" sz="1300" dirty="0"/>
          </a:p>
        </p:txBody>
      </p:sp>
      <p:sp>
        <p:nvSpPr>
          <p:cNvPr id="3" name="Text 1"/>
          <p:cNvSpPr txBox="1"/>
          <p:nvPr/>
        </p:nvSpPr>
        <p:spPr>
          <a:xfrm>
            <a:off x="548640" y="658368"/>
            <a:ext cx="8046720" cy="685800"/>
          </a:xfrm>
          <a:prstGeom prst="rect">
            <a:avLst/>
          </a:prstGeom>
          <a:noFill/>
          <a:ln/>
        </p:spPr>
        <p:txBody>
          <a:bodyPr wrap="square" lIns="0" tIns="0" rIns="0" bIns="0" rtlCol="0" anchor="ctr"/>
          <a:lstStyle/>
          <a:p>
            <a:pPr indent="0" marL="0">
              <a:buNone/>
            </a:pPr>
            <a:r>
              <a:rPr lang="en-US" sz="3200" b="1" dirty="0">
                <a:solidFill>
                  <a:srgbClr val="13203A"/>
                </a:solidFill>
                <a:latin typeface="Cambria" pitchFamily="34" charset="0"/>
                <a:ea typeface="Cambria" pitchFamily="34" charset="-122"/>
                <a:cs typeface="Cambria" pitchFamily="34" charset="-120"/>
              </a:rPr>
              <a:t>Why it doesn’t chatter</a:t>
            </a:r>
            <a:endParaRPr lang="en-US" sz="3200" dirty="0"/>
          </a:p>
        </p:txBody>
      </p:sp>
      <p:sp>
        <p:nvSpPr>
          <p:cNvPr id="5" name="Shape 2"/>
          <p:cNvSpPr/>
          <p:nvPr/>
        </p:nvSpPr>
        <p:spPr>
          <a:xfrm>
            <a:off x="548640" y="1554480"/>
            <a:ext cx="3931920" cy="2560320"/>
          </a:xfrm>
          <a:prstGeom prst="roundRect">
            <a:avLst>
              <a:gd name="adj" fmla="val 4286"/>
            </a:avLst>
          </a:prstGeom>
          <a:solidFill>
            <a:srgbClr val="DCEBFA"/>
          </a:solidFill>
          <a:ln w="12700">
            <a:solidFill>
              <a:srgbClr val="DCEBFA"/>
            </a:solidFill>
            <a:prstDash val="solid"/>
          </a:ln>
        </p:spPr>
      </p:sp>
      <p:sp>
        <p:nvSpPr>
          <p:cNvPr id="6" name="Text 3"/>
          <p:cNvSpPr txBox="1"/>
          <p:nvPr/>
        </p:nvSpPr>
        <p:spPr>
          <a:xfrm>
            <a:off x="777240" y="1737360"/>
            <a:ext cx="3474720" cy="365760"/>
          </a:xfrm>
          <a:prstGeom prst="rect">
            <a:avLst/>
          </a:prstGeom>
          <a:noFill/>
          <a:ln/>
        </p:spPr>
        <p:txBody>
          <a:bodyPr wrap="square" lIns="0" tIns="0" rIns="0" bIns="0" rtlCol="0" anchor="t"/>
          <a:lstStyle/>
          <a:p>
            <a:pPr indent="0" marL="0">
              <a:buNone/>
            </a:pPr>
            <a:r>
              <a:rPr lang="en-US" sz="1800" b="1" dirty="0">
                <a:solidFill>
                  <a:srgbClr val="13203A"/>
                </a:solidFill>
                <a:latin typeface="Cambria" pitchFamily="34" charset="0"/>
                <a:ea typeface="Cambria" pitchFamily="34" charset="-122"/>
                <a:cs typeface="Cambria" pitchFamily="34" charset="-120"/>
              </a:rPr>
              <a:t>It only mentions what’s stable</a:t>
            </a:r>
            <a:endParaRPr lang="en-US" sz="1800" dirty="0"/>
          </a:p>
        </p:txBody>
      </p:sp>
      <p:sp>
        <p:nvSpPr>
          <p:cNvPr id="7" name="Text 4"/>
          <p:cNvSpPr txBox="1"/>
          <p:nvPr/>
        </p:nvSpPr>
        <p:spPr>
          <a:xfrm>
            <a:off x="777240" y="2240280"/>
            <a:ext cx="3474720" cy="173736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An object must appear in at least 3 of the last 5 frames. A one-frame glitch never gets spoken, and two people stay “two people” even if one blinks out for a moment.</a:t>
            </a:r>
            <a:endParaRPr lang="en-US" sz="1400" dirty="0"/>
          </a:p>
        </p:txBody>
      </p:sp>
      <p:sp>
        <p:nvSpPr>
          <p:cNvPr id="8" name="Shape 5"/>
          <p:cNvSpPr/>
          <p:nvPr/>
        </p:nvSpPr>
        <p:spPr>
          <a:xfrm>
            <a:off x="4663440" y="1554480"/>
            <a:ext cx="3931920" cy="2560320"/>
          </a:xfrm>
          <a:prstGeom prst="roundRect">
            <a:avLst>
              <a:gd name="adj" fmla="val 4286"/>
            </a:avLst>
          </a:prstGeom>
          <a:solidFill>
            <a:srgbClr val="FDE9D9"/>
          </a:solidFill>
          <a:ln w="12700">
            <a:solidFill>
              <a:srgbClr val="FDE9D9"/>
            </a:solidFill>
            <a:prstDash val="solid"/>
          </a:ln>
        </p:spPr>
      </p:sp>
      <p:sp>
        <p:nvSpPr>
          <p:cNvPr id="9" name="Text 6"/>
          <p:cNvSpPr txBox="1"/>
          <p:nvPr/>
        </p:nvSpPr>
        <p:spPr>
          <a:xfrm>
            <a:off x="4892040" y="1737360"/>
            <a:ext cx="3474720" cy="365760"/>
          </a:xfrm>
          <a:prstGeom prst="rect">
            <a:avLst/>
          </a:prstGeom>
          <a:noFill/>
          <a:ln/>
        </p:spPr>
        <p:txBody>
          <a:bodyPr wrap="square" lIns="0" tIns="0" rIns="0" bIns="0" rtlCol="0" anchor="t"/>
          <a:lstStyle/>
          <a:p>
            <a:pPr indent="0" marL="0">
              <a:buNone/>
            </a:pPr>
            <a:r>
              <a:rPr lang="en-US" sz="1800" b="1" dirty="0">
                <a:solidFill>
                  <a:srgbClr val="13203A"/>
                </a:solidFill>
                <a:latin typeface="Cambria" pitchFamily="34" charset="0"/>
                <a:ea typeface="Cambria" pitchFamily="34" charset="-122"/>
                <a:cs typeface="Cambria" pitchFamily="34" charset="-120"/>
              </a:rPr>
              <a:t>It waits its turn</a:t>
            </a:r>
            <a:endParaRPr lang="en-US" sz="1800" dirty="0"/>
          </a:p>
        </p:txBody>
      </p:sp>
      <p:sp>
        <p:nvSpPr>
          <p:cNvPr id="10" name="Text 7"/>
          <p:cNvSpPr txBox="1"/>
          <p:nvPr/>
        </p:nvSpPr>
        <p:spPr>
          <a:xfrm>
            <a:off x="4892040" y="2240280"/>
            <a:ext cx="3474720" cy="173736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At least 3 seconds between updates. The same sentence isn’t repeated for 15 seconds. A sentence already being spoken is never cut off.</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046720" cy="274320"/>
          </a:xfrm>
          <a:prstGeom prst="rect">
            <a:avLst/>
          </a:prstGeom>
          <a:noFill/>
          <a:ln/>
        </p:spPr>
        <p:txBody>
          <a:bodyPr wrap="square" lIns="0" tIns="0" rIns="0" bIns="0" rtlCol="0" anchor="ctr"/>
          <a:lstStyle/>
          <a:p>
            <a:pPr indent="0" marL="0">
              <a:buNone/>
            </a:pPr>
            <a:r>
              <a:rPr lang="en-US" sz="1300" b="1" dirty="0">
                <a:solidFill>
                  <a:srgbClr val="0E9F8E"/>
                </a:solidFill>
                <a:latin typeface="Calibri" pitchFamily="34" charset="0"/>
                <a:ea typeface="Calibri" pitchFamily="34" charset="-122"/>
                <a:cs typeface="Calibri" pitchFamily="34" charset="-120"/>
              </a:rPr>
              <a:t>The website</a:t>
            </a:r>
            <a:endParaRPr lang="en-US" sz="1300" dirty="0"/>
          </a:p>
        </p:txBody>
      </p:sp>
      <p:sp>
        <p:nvSpPr>
          <p:cNvPr id="3" name="Text 1"/>
          <p:cNvSpPr txBox="1"/>
          <p:nvPr/>
        </p:nvSpPr>
        <p:spPr>
          <a:xfrm>
            <a:off x="548640" y="658368"/>
            <a:ext cx="8046720" cy="685800"/>
          </a:xfrm>
          <a:prstGeom prst="rect">
            <a:avLst/>
          </a:prstGeom>
          <a:noFill/>
          <a:ln/>
        </p:spPr>
        <p:txBody>
          <a:bodyPr wrap="square" lIns="0" tIns="0" rIns="0" bIns="0" rtlCol="0" anchor="ctr"/>
          <a:lstStyle/>
          <a:p>
            <a:pPr indent="0" marL="0">
              <a:buNone/>
            </a:pPr>
            <a:r>
              <a:rPr lang="en-US" sz="3200" b="1" dirty="0">
                <a:solidFill>
                  <a:srgbClr val="13203A"/>
                </a:solidFill>
                <a:latin typeface="Cambria" pitchFamily="34" charset="0"/>
                <a:ea typeface="Cambria" pitchFamily="34" charset="-122"/>
                <a:cs typeface="Cambria" pitchFamily="34" charset="-120"/>
              </a:rPr>
              <a:t>Try it in the browser</a:t>
            </a:r>
            <a:endParaRPr lang="en-US" sz="3200" dirty="0"/>
          </a:p>
        </p:txBody>
      </p:sp>
      <p:sp>
        <p:nvSpPr>
          <p:cNvPr id="5" name="Shape 2"/>
          <p:cNvSpPr/>
          <p:nvPr/>
        </p:nvSpPr>
        <p:spPr>
          <a:xfrm>
            <a:off x="548640" y="1508760"/>
            <a:ext cx="4572000" cy="2926080"/>
          </a:xfrm>
          <a:prstGeom prst="roundRect">
            <a:avLst>
              <a:gd name="adj" fmla="val 3750"/>
            </a:avLst>
          </a:prstGeom>
          <a:solidFill>
            <a:srgbClr val="0F172A"/>
          </a:solidFill>
          <a:ln w="12700">
            <a:solidFill>
              <a:srgbClr val="0F172A"/>
            </a:solidFill>
            <a:prstDash val="solid"/>
          </a:ln>
        </p:spPr>
      </p:sp>
      <p:sp>
        <p:nvSpPr>
          <p:cNvPr id="6" name="Text 3"/>
          <p:cNvSpPr txBox="1"/>
          <p:nvPr/>
        </p:nvSpPr>
        <p:spPr>
          <a:xfrm>
            <a:off x="777240" y="1645920"/>
            <a:ext cx="2743200" cy="320040"/>
          </a:xfrm>
          <a:prstGeom prst="rect">
            <a:avLst/>
          </a:prstGeom>
          <a:noFill/>
          <a:ln/>
        </p:spPr>
        <p:txBody>
          <a:bodyPr wrap="square" lIns="0" tIns="0" rIns="0" bIns="0" rtlCol="0" anchor="t"/>
          <a:lstStyle/>
          <a:p>
            <a:pPr indent="0" marL="0">
              <a:buNone/>
            </a:pPr>
            <a:r>
              <a:rPr lang="en-US" sz="1600" b="1" dirty="0">
                <a:solidFill>
                  <a:srgbClr val="7FE3D3"/>
                </a:solidFill>
                <a:latin typeface="Cambria" pitchFamily="34" charset="0"/>
                <a:ea typeface="Cambria" pitchFamily="34" charset="-122"/>
                <a:cs typeface="Cambria" pitchFamily="34" charset="-120"/>
              </a:rPr>
              <a:t>Vision Assist</a:t>
            </a:r>
            <a:endParaRPr lang="en-US" sz="1600" dirty="0"/>
          </a:p>
        </p:txBody>
      </p:sp>
      <p:sp>
        <p:nvSpPr>
          <p:cNvPr id="7" name="Shape 4"/>
          <p:cNvSpPr/>
          <p:nvPr/>
        </p:nvSpPr>
        <p:spPr>
          <a:xfrm>
            <a:off x="777240" y="2057400"/>
            <a:ext cx="4114800" cy="1463040"/>
          </a:xfrm>
          <a:prstGeom prst="roundRect">
            <a:avLst>
              <a:gd name="adj" fmla="val 5000"/>
            </a:avLst>
          </a:prstGeom>
          <a:solidFill>
            <a:srgbClr val="1B2A44"/>
          </a:solidFill>
          <a:ln w="12700">
            <a:solidFill>
              <a:srgbClr val="1B2A44"/>
            </a:solidFill>
            <a:prstDash val="solid"/>
          </a:ln>
        </p:spPr>
      </p:sp>
      <p:sp>
        <p:nvSpPr>
          <p:cNvPr id="8" name="Shape 5"/>
          <p:cNvSpPr/>
          <p:nvPr/>
        </p:nvSpPr>
        <p:spPr>
          <a:xfrm>
            <a:off x="2011680" y="2331720"/>
            <a:ext cx="1005840" cy="1097280"/>
          </a:xfrm>
          <a:prstGeom prst="rect">
            <a:avLst/>
          </a:prstGeom>
          <a:solidFill>
            <a:srgbClr val="1B2A44"/>
          </a:solidFill>
          <a:ln w="25400">
            <a:solidFill>
              <a:srgbClr val="3DDC97"/>
            </a:solidFill>
            <a:prstDash val="solid"/>
          </a:ln>
        </p:spPr>
      </p:sp>
      <p:sp>
        <p:nvSpPr>
          <p:cNvPr id="9" name="Shape 6"/>
          <p:cNvSpPr/>
          <p:nvPr/>
        </p:nvSpPr>
        <p:spPr>
          <a:xfrm>
            <a:off x="3886200" y="2148840"/>
            <a:ext cx="868680" cy="237744"/>
          </a:xfrm>
          <a:prstGeom prst="roundRect">
            <a:avLst>
              <a:gd name="adj" fmla="val 50000"/>
            </a:avLst>
          </a:prstGeom>
          <a:solidFill>
            <a:srgbClr val="F26B5B"/>
          </a:solidFill>
          <a:ln w="12700">
            <a:solidFill>
              <a:srgbClr val="F26B5B"/>
            </a:solidFill>
            <a:prstDash val="solid"/>
          </a:ln>
        </p:spPr>
      </p:sp>
      <p:sp>
        <p:nvSpPr>
          <p:cNvPr id="10" name="Text 7"/>
          <p:cNvSpPr txBox="1"/>
          <p:nvPr/>
        </p:nvSpPr>
        <p:spPr>
          <a:xfrm>
            <a:off x="3886200" y="2148840"/>
            <a:ext cx="86868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LIVE</a:t>
            </a:r>
            <a:endParaRPr lang="en-US" sz="1000" dirty="0"/>
          </a:p>
        </p:txBody>
      </p:sp>
      <p:sp>
        <p:nvSpPr>
          <p:cNvPr id="11" name="Shape 8"/>
          <p:cNvSpPr/>
          <p:nvPr/>
        </p:nvSpPr>
        <p:spPr>
          <a:xfrm>
            <a:off x="777240" y="3657600"/>
            <a:ext cx="1188720" cy="365760"/>
          </a:xfrm>
          <a:prstGeom prst="roundRect">
            <a:avLst>
              <a:gd name="adj" fmla="val 25000"/>
            </a:avLst>
          </a:prstGeom>
          <a:solidFill>
            <a:srgbClr val="0E9F8E"/>
          </a:solidFill>
          <a:ln w="12700">
            <a:solidFill>
              <a:srgbClr val="0E9F8E"/>
            </a:solidFill>
            <a:prstDash val="solid"/>
          </a:ln>
        </p:spPr>
      </p:sp>
      <p:sp>
        <p:nvSpPr>
          <p:cNvPr id="12" name="Text 9"/>
          <p:cNvSpPr txBox="1"/>
          <p:nvPr/>
        </p:nvSpPr>
        <p:spPr>
          <a:xfrm>
            <a:off x="777240" y="3657600"/>
            <a:ext cx="118872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Capture</a:t>
            </a:r>
            <a:endParaRPr lang="en-US" sz="1200" dirty="0"/>
          </a:p>
        </p:txBody>
      </p:sp>
      <p:sp>
        <p:nvSpPr>
          <p:cNvPr id="13" name="Shape 10"/>
          <p:cNvSpPr/>
          <p:nvPr/>
        </p:nvSpPr>
        <p:spPr>
          <a:xfrm>
            <a:off x="2103120" y="3657600"/>
            <a:ext cx="1188720" cy="365760"/>
          </a:xfrm>
          <a:prstGeom prst="roundRect">
            <a:avLst>
              <a:gd name="adj" fmla="val 25000"/>
            </a:avLst>
          </a:prstGeom>
          <a:solidFill>
            <a:srgbClr val="334155"/>
          </a:solidFill>
          <a:ln w="12700">
            <a:solidFill>
              <a:srgbClr val="334155"/>
            </a:solidFill>
            <a:prstDash val="solid"/>
          </a:ln>
        </p:spPr>
      </p:sp>
      <p:sp>
        <p:nvSpPr>
          <p:cNvPr id="14" name="Text 11"/>
          <p:cNvSpPr txBox="1"/>
          <p:nvPr/>
        </p:nvSpPr>
        <p:spPr>
          <a:xfrm>
            <a:off x="2103120" y="3657600"/>
            <a:ext cx="118872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Stop live</a:t>
            </a:r>
            <a:endParaRPr lang="en-US" sz="1200" dirty="0"/>
          </a:p>
        </p:txBody>
      </p:sp>
      <p:sp>
        <p:nvSpPr>
          <p:cNvPr id="15" name="Text 12"/>
          <p:cNvSpPr txBox="1"/>
          <p:nvPr/>
        </p:nvSpPr>
        <p:spPr>
          <a:xfrm>
            <a:off x="3520440" y="4069080"/>
            <a:ext cx="1554480" cy="274320"/>
          </a:xfrm>
          <a:prstGeom prst="rect">
            <a:avLst/>
          </a:prstGeom>
          <a:noFill/>
          <a:ln/>
        </p:spPr>
        <p:txBody>
          <a:bodyPr wrap="square" lIns="0" tIns="0" rIns="0" bIns="0" rtlCol="0" anchor="t"/>
          <a:lstStyle/>
          <a:p>
            <a:pPr indent="0" marL="0">
              <a:buNone/>
            </a:pPr>
            <a:r>
              <a:rPr lang="en-US" sz="1000" dirty="0">
                <a:solidFill>
                  <a:srgbClr val="9FB0CC"/>
                </a:solidFill>
                <a:latin typeface="Calibri" pitchFamily="34" charset="0"/>
                <a:ea typeface="Calibri" pitchFamily="34" charset="-122"/>
                <a:cs typeface="Calibri" pitchFamily="34" charset="-120"/>
              </a:rPr>
              <a:t>Illustration of the page</a:t>
            </a:r>
            <a:endParaRPr lang="en-US" sz="1000" dirty="0"/>
          </a:p>
        </p:txBody>
      </p:sp>
      <p:sp>
        <p:nvSpPr>
          <p:cNvPr id="16" name="Text 13"/>
          <p:cNvSpPr txBox="1"/>
          <p:nvPr/>
        </p:nvSpPr>
        <p:spPr>
          <a:xfrm>
            <a:off x="5486400" y="1554480"/>
            <a:ext cx="3108960" cy="685800"/>
          </a:xfrm>
          <a:prstGeom prst="rect">
            <a:avLst/>
          </a:prstGeom>
          <a:noFill/>
          <a:ln/>
        </p:spPr>
        <p:txBody>
          <a:bodyPr wrap="square" lIns="0" tIns="0" rIns="0" bIns="0" rtlCol="0" anchor="t"/>
          <a:lstStyle/>
          <a:p>
            <a:pPr indent="0" marL="0">
              <a:buNone/>
            </a:pPr>
            <a:r>
              <a:rPr lang="en-US" sz="1400" b="1" dirty="0">
                <a:solidFill>
                  <a:srgbClr val="13203A"/>
                </a:solidFill>
                <a:latin typeface="Calibri" pitchFamily="34" charset="0"/>
                <a:ea typeface="Calibri" pitchFamily="34" charset="-122"/>
                <a:cs typeface="Calibri" pitchFamily="34" charset="-120"/>
              </a:rPr>
              <a:t>Webcam first
</a:t>
            </a:r>
            <a:pPr indent="0" marL="0">
              <a:buNone/>
            </a:pPr>
            <a:r>
              <a:rPr lang="en-US" sz="1200" dirty="0">
                <a:solidFill>
                  <a:srgbClr val="1F2937"/>
                </a:solidFill>
                <a:latin typeface="Calibri" pitchFamily="34" charset="0"/>
                <a:ea typeface="Calibri" pitchFamily="34" charset="-122"/>
                <a:cs typeface="Calibri" pitchFamily="34" charset="-120"/>
              </a:rPr>
              <a:t>Starts on load; stop and restart any time.</a:t>
            </a:r>
            <a:endParaRPr lang="en-US" sz="1500" dirty="0"/>
          </a:p>
        </p:txBody>
      </p:sp>
      <p:sp>
        <p:nvSpPr>
          <p:cNvPr id="17" name="Text 14"/>
          <p:cNvSpPr txBox="1"/>
          <p:nvPr/>
        </p:nvSpPr>
        <p:spPr>
          <a:xfrm>
            <a:off x="5486400" y="2286000"/>
            <a:ext cx="3108960" cy="685800"/>
          </a:xfrm>
          <a:prstGeom prst="rect">
            <a:avLst/>
          </a:prstGeom>
          <a:noFill/>
          <a:ln/>
        </p:spPr>
        <p:txBody>
          <a:bodyPr wrap="square" lIns="0" tIns="0" rIns="0" bIns="0" rtlCol="0" anchor="t"/>
          <a:lstStyle/>
          <a:p>
            <a:pPr indent="0" marL="0">
              <a:buNone/>
            </a:pPr>
            <a:r>
              <a:rPr lang="en-US" sz="1400" b="1" dirty="0">
                <a:solidFill>
                  <a:srgbClr val="13203A"/>
                </a:solidFill>
                <a:latin typeface="Calibri" pitchFamily="34" charset="0"/>
                <a:ea typeface="Calibri" pitchFamily="34" charset="-122"/>
                <a:cs typeface="Calibri" pitchFamily="34" charset="-120"/>
              </a:rPr>
              <a:t>Live or one-shot
</a:t>
            </a:r>
            <a:pPr indent="0" marL="0">
              <a:buNone/>
            </a:pPr>
            <a:r>
              <a:rPr lang="en-US" sz="1200" dirty="0">
                <a:solidFill>
                  <a:srgbClr val="1F2937"/>
                </a:solidFill>
                <a:latin typeface="Calibri" pitchFamily="34" charset="0"/>
                <a:ea typeface="Calibri" pitchFamily="34" charset="-122"/>
                <a:cs typeface="Calibri" pitchFamily="34" charset="-120"/>
              </a:rPr>
              <a:t>Continuous mode with boxes, or capture a single frame.</a:t>
            </a:r>
            <a:endParaRPr lang="en-US" sz="1500" dirty="0"/>
          </a:p>
        </p:txBody>
      </p:sp>
      <p:sp>
        <p:nvSpPr>
          <p:cNvPr id="18" name="Text 15"/>
          <p:cNvSpPr txBox="1"/>
          <p:nvPr/>
        </p:nvSpPr>
        <p:spPr>
          <a:xfrm>
            <a:off x="5486400" y="3017520"/>
            <a:ext cx="3108960" cy="685800"/>
          </a:xfrm>
          <a:prstGeom prst="rect">
            <a:avLst/>
          </a:prstGeom>
          <a:noFill/>
          <a:ln/>
        </p:spPr>
        <p:txBody>
          <a:bodyPr wrap="square" lIns="0" tIns="0" rIns="0" bIns="0" rtlCol="0" anchor="t"/>
          <a:lstStyle/>
          <a:p>
            <a:pPr indent="0" marL="0">
              <a:buNone/>
            </a:pPr>
            <a:r>
              <a:rPr lang="en-US" sz="1400" b="1" dirty="0">
                <a:solidFill>
                  <a:srgbClr val="13203A"/>
                </a:solidFill>
                <a:latin typeface="Calibri" pitchFamily="34" charset="0"/>
                <a:ea typeface="Calibri" pitchFamily="34" charset="-122"/>
                <a:cs typeface="Calibri" pitchFamily="34" charset="-120"/>
              </a:rPr>
              <a:t>Hear it
</a:t>
            </a:r>
            <a:pPr indent="0" marL="0">
              <a:buNone/>
            </a:pPr>
            <a:r>
              <a:rPr lang="en-US" sz="1200" dirty="0">
                <a:solidFill>
                  <a:srgbClr val="1F2937"/>
                </a:solidFill>
                <a:latin typeface="Calibri" pitchFamily="34" charset="0"/>
                <a:ea typeface="Calibri" pitchFamily="34" charset="-122"/>
                <a:cs typeface="Calibri" pitchFamily="34" charset="-120"/>
              </a:rPr>
              <a:t>Browser speech reads each new description.</a:t>
            </a:r>
            <a:endParaRPr lang="en-US" sz="1500" dirty="0"/>
          </a:p>
        </p:txBody>
      </p:sp>
      <p:sp>
        <p:nvSpPr>
          <p:cNvPr id="19" name="Text 16"/>
          <p:cNvSpPr txBox="1"/>
          <p:nvPr/>
        </p:nvSpPr>
        <p:spPr>
          <a:xfrm>
            <a:off x="5486400" y="3749040"/>
            <a:ext cx="3108960" cy="685800"/>
          </a:xfrm>
          <a:prstGeom prst="rect">
            <a:avLst/>
          </a:prstGeom>
          <a:noFill/>
          <a:ln/>
        </p:spPr>
        <p:txBody>
          <a:bodyPr wrap="square" lIns="0" tIns="0" rIns="0" bIns="0" rtlCol="0" anchor="t"/>
          <a:lstStyle/>
          <a:p>
            <a:pPr indent="0" marL="0">
              <a:buNone/>
            </a:pPr>
            <a:r>
              <a:rPr lang="en-US" sz="1400" b="1" dirty="0">
                <a:solidFill>
                  <a:srgbClr val="13203A"/>
                </a:solidFill>
                <a:latin typeface="Calibri" pitchFamily="34" charset="0"/>
                <a:ea typeface="Calibri" pitchFamily="34" charset="-122"/>
                <a:cs typeface="Calibri" pitchFamily="34" charset="-120"/>
              </a:rPr>
              <a:t>Upload a photo
</a:t>
            </a:r>
            <a:pPr indent="0" marL="0">
              <a:buNone/>
            </a:pPr>
            <a:r>
              <a:rPr lang="en-US" sz="1200" dirty="0">
                <a:solidFill>
                  <a:srgbClr val="1F2937"/>
                </a:solidFill>
                <a:latin typeface="Calibri" pitchFamily="34" charset="0"/>
                <a:ea typeface="Calibri" pitchFamily="34" charset="-122"/>
                <a:cs typeface="Calibri" pitchFamily="34" charset="-120"/>
              </a:rPr>
              <a:t>Analyze it, then remove it with one click.</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046720" cy="274320"/>
          </a:xfrm>
          <a:prstGeom prst="rect">
            <a:avLst/>
          </a:prstGeom>
          <a:noFill/>
          <a:ln/>
        </p:spPr>
        <p:txBody>
          <a:bodyPr wrap="square" lIns="0" tIns="0" rIns="0" bIns="0" rtlCol="0" anchor="ctr"/>
          <a:lstStyle/>
          <a:p>
            <a:pPr indent="0" marL="0">
              <a:buNone/>
            </a:pPr>
            <a:r>
              <a:rPr lang="en-US" sz="1300" b="1" dirty="0">
                <a:solidFill>
                  <a:srgbClr val="0E9F8E"/>
                </a:solidFill>
                <a:latin typeface="Calibri" pitchFamily="34" charset="0"/>
                <a:ea typeface="Calibri" pitchFamily="34" charset="-122"/>
                <a:cs typeface="Calibri" pitchFamily="34" charset="-120"/>
              </a:rPr>
              <a:t>For the curious</a:t>
            </a:r>
            <a:endParaRPr lang="en-US" sz="1300" dirty="0"/>
          </a:p>
        </p:txBody>
      </p:sp>
      <p:sp>
        <p:nvSpPr>
          <p:cNvPr id="3" name="Text 1"/>
          <p:cNvSpPr txBox="1"/>
          <p:nvPr/>
        </p:nvSpPr>
        <p:spPr>
          <a:xfrm>
            <a:off x="548640" y="658368"/>
            <a:ext cx="8046720" cy="685800"/>
          </a:xfrm>
          <a:prstGeom prst="rect">
            <a:avLst/>
          </a:prstGeom>
          <a:noFill/>
          <a:ln/>
        </p:spPr>
        <p:txBody>
          <a:bodyPr wrap="square" lIns="0" tIns="0" rIns="0" bIns="0" rtlCol="0" anchor="ctr"/>
          <a:lstStyle/>
          <a:p>
            <a:pPr indent="0" marL="0">
              <a:buNone/>
            </a:pPr>
            <a:r>
              <a:rPr lang="en-US" sz="3200" b="1" dirty="0">
                <a:solidFill>
                  <a:srgbClr val="13203A"/>
                </a:solidFill>
                <a:latin typeface="Cambria" pitchFamily="34" charset="0"/>
                <a:ea typeface="Cambria" pitchFamily="34" charset="-122"/>
                <a:cs typeface="Cambria" pitchFamily="34" charset="-120"/>
              </a:rPr>
              <a:t>Under the hood</a:t>
            </a:r>
            <a:endParaRPr lang="en-US" sz="3200" dirty="0"/>
          </a:p>
        </p:txBody>
      </p:sp>
      <p:sp>
        <p:nvSpPr>
          <p:cNvPr id="5" name="Shape 2"/>
          <p:cNvSpPr/>
          <p:nvPr/>
        </p:nvSpPr>
        <p:spPr>
          <a:xfrm>
            <a:off x="548640" y="1508760"/>
            <a:ext cx="2194560" cy="777240"/>
          </a:xfrm>
          <a:prstGeom prst="roundRect">
            <a:avLst>
              <a:gd name="adj" fmla="val 11765"/>
            </a:avLst>
          </a:prstGeom>
          <a:solidFill>
            <a:srgbClr val="F1F5F9"/>
          </a:solidFill>
          <a:ln w="12700">
            <a:solidFill>
              <a:srgbClr val="F1F5F9"/>
            </a:solidFill>
            <a:prstDash val="solid"/>
          </a:ln>
        </p:spPr>
      </p:sp>
      <p:sp>
        <p:nvSpPr>
          <p:cNvPr id="6" name="Text 3"/>
          <p:cNvSpPr txBox="1"/>
          <p:nvPr/>
        </p:nvSpPr>
        <p:spPr>
          <a:xfrm>
            <a:off x="731520" y="1618488"/>
            <a:ext cx="1920240" cy="274320"/>
          </a:xfrm>
          <a:prstGeom prst="rect">
            <a:avLst/>
          </a:prstGeom>
          <a:noFill/>
          <a:ln/>
        </p:spPr>
        <p:txBody>
          <a:bodyPr wrap="square" lIns="0" tIns="0" rIns="0" bIns="0" rtlCol="0" anchor="t"/>
          <a:lstStyle/>
          <a:p>
            <a:pPr indent="0" marL="0">
              <a:buNone/>
            </a:pPr>
            <a:r>
              <a:rPr lang="en-US" sz="1200" b="1" dirty="0">
                <a:solidFill>
                  <a:srgbClr val="0E9F8E"/>
                </a:solidFill>
                <a:latin typeface="Courier New" pitchFamily="34" charset="0"/>
                <a:ea typeface="Courier New" pitchFamily="34" charset="-122"/>
                <a:cs typeface="Courier New" pitchFamily="34" charset="-120"/>
              </a:rPr>
              <a:t>detector.py</a:t>
            </a:r>
            <a:endParaRPr lang="en-US" sz="1200" dirty="0"/>
          </a:p>
        </p:txBody>
      </p:sp>
      <p:sp>
        <p:nvSpPr>
          <p:cNvPr id="7" name="Text 4"/>
          <p:cNvSpPr txBox="1"/>
          <p:nvPr/>
        </p:nvSpPr>
        <p:spPr>
          <a:xfrm>
            <a:off x="731520" y="1901952"/>
            <a:ext cx="1920240" cy="32004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Runs the YOLO model</a:t>
            </a:r>
            <a:endParaRPr lang="en-US" sz="1200" dirty="0"/>
          </a:p>
        </p:txBody>
      </p:sp>
      <p:sp>
        <p:nvSpPr>
          <p:cNvPr id="8" name="Shape 5"/>
          <p:cNvSpPr/>
          <p:nvPr/>
        </p:nvSpPr>
        <p:spPr>
          <a:xfrm>
            <a:off x="2880360" y="1508760"/>
            <a:ext cx="2194560" cy="777240"/>
          </a:xfrm>
          <a:prstGeom prst="roundRect">
            <a:avLst>
              <a:gd name="adj" fmla="val 11765"/>
            </a:avLst>
          </a:prstGeom>
          <a:solidFill>
            <a:srgbClr val="F1F5F9"/>
          </a:solidFill>
          <a:ln w="12700">
            <a:solidFill>
              <a:srgbClr val="F1F5F9"/>
            </a:solidFill>
            <a:prstDash val="solid"/>
          </a:ln>
        </p:spPr>
      </p:sp>
      <p:sp>
        <p:nvSpPr>
          <p:cNvPr id="9" name="Text 6"/>
          <p:cNvSpPr txBox="1"/>
          <p:nvPr/>
        </p:nvSpPr>
        <p:spPr>
          <a:xfrm>
            <a:off x="3063240" y="1618488"/>
            <a:ext cx="1920240" cy="274320"/>
          </a:xfrm>
          <a:prstGeom prst="rect">
            <a:avLst/>
          </a:prstGeom>
          <a:noFill/>
          <a:ln/>
        </p:spPr>
        <p:txBody>
          <a:bodyPr wrap="square" lIns="0" tIns="0" rIns="0" bIns="0" rtlCol="0" anchor="t"/>
          <a:lstStyle/>
          <a:p>
            <a:pPr indent="0" marL="0">
              <a:buNone/>
            </a:pPr>
            <a:r>
              <a:rPr lang="en-US" sz="1200" b="1" dirty="0">
                <a:solidFill>
                  <a:srgbClr val="0E9F8E"/>
                </a:solidFill>
                <a:latin typeface="Courier New" pitchFamily="34" charset="0"/>
                <a:ea typeface="Courier New" pitchFamily="34" charset="-122"/>
                <a:cs typeface="Courier New" pitchFamily="34" charset="-120"/>
              </a:rPr>
              <a:t>camera.py</a:t>
            </a:r>
            <a:endParaRPr lang="en-US" sz="1200" dirty="0"/>
          </a:p>
        </p:txBody>
      </p:sp>
      <p:sp>
        <p:nvSpPr>
          <p:cNvPr id="10" name="Text 7"/>
          <p:cNvSpPr txBox="1"/>
          <p:nvPr/>
        </p:nvSpPr>
        <p:spPr>
          <a:xfrm>
            <a:off x="3063240" y="1901952"/>
            <a:ext cx="1920240" cy="32004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Always keeps the newest frame</a:t>
            </a:r>
            <a:endParaRPr lang="en-US" sz="1200" dirty="0"/>
          </a:p>
        </p:txBody>
      </p:sp>
      <p:sp>
        <p:nvSpPr>
          <p:cNvPr id="11" name="Shape 8"/>
          <p:cNvSpPr/>
          <p:nvPr/>
        </p:nvSpPr>
        <p:spPr>
          <a:xfrm>
            <a:off x="548640" y="2423160"/>
            <a:ext cx="2194560" cy="777240"/>
          </a:xfrm>
          <a:prstGeom prst="roundRect">
            <a:avLst>
              <a:gd name="adj" fmla="val 11765"/>
            </a:avLst>
          </a:prstGeom>
          <a:solidFill>
            <a:srgbClr val="F1F5F9"/>
          </a:solidFill>
          <a:ln w="12700">
            <a:solidFill>
              <a:srgbClr val="F1F5F9"/>
            </a:solidFill>
            <a:prstDash val="solid"/>
          </a:ln>
        </p:spPr>
      </p:sp>
      <p:sp>
        <p:nvSpPr>
          <p:cNvPr id="12" name="Text 9"/>
          <p:cNvSpPr txBox="1"/>
          <p:nvPr/>
        </p:nvSpPr>
        <p:spPr>
          <a:xfrm>
            <a:off x="731520" y="2532888"/>
            <a:ext cx="1920240" cy="274320"/>
          </a:xfrm>
          <a:prstGeom prst="rect">
            <a:avLst/>
          </a:prstGeom>
          <a:noFill/>
          <a:ln/>
        </p:spPr>
        <p:txBody>
          <a:bodyPr wrap="square" lIns="0" tIns="0" rIns="0" bIns="0" rtlCol="0" anchor="t"/>
          <a:lstStyle/>
          <a:p>
            <a:pPr indent="0" marL="0">
              <a:buNone/>
            </a:pPr>
            <a:r>
              <a:rPr lang="en-US" sz="1200" b="1" dirty="0">
                <a:solidFill>
                  <a:srgbClr val="0E9F8E"/>
                </a:solidFill>
                <a:latin typeface="Courier New" pitchFamily="34" charset="0"/>
                <a:ea typeface="Courier New" pitchFamily="34" charset="-122"/>
                <a:cs typeface="Courier New" pitchFamily="34" charset="-120"/>
              </a:rPr>
              <a:t>scene.py</a:t>
            </a:r>
            <a:endParaRPr lang="en-US" sz="1200" dirty="0"/>
          </a:p>
        </p:txBody>
      </p:sp>
      <p:sp>
        <p:nvSpPr>
          <p:cNvPr id="13" name="Text 10"/>
          <p:cNvSpPr txBox="1"/>
          <p:nvPr/>
        </p:nvSpPr>
        <p:spPr>
          <a:xfrm>
            <a:off x="731520" y="2816352"/>
            <a:ext cx="1920240" cy="32004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Turns boxes into a sentence</a:t>
            </a:r>
            <a:endParaRPr lang="en-US" sz="1200" dirty="0"/>
          </a:p>
        </p:txBody>
      </p:sp>
      <p:sp>
        <p:nvSpPr>
          <p:cNvPr id="14" name="Shape 11"/>
          <p:cNvSpPr/>
          <p:nvPr/>
        </p:nvSpPr>
        <p:spPr>
          <a:xfrm>
            <a:off x="2880360" y="2423160"/>
            <a:ext cx="2194560" cy="777240"/>
          </a:xfrm>
          <a:prstGeom prst="roundRect">
            <a:avLst>
              <a:gd name="adj" fmla="val 11765"/>
            </a:avLst>
          </a:prstGeom>
          <a:solidFill>
            <a:srgbClr val="F1F5F9"/>
          </a:solidFill>
          <a:ln w="12700">
            <a:solidFill>
              <a:srgbClr val="F1F5F9"/>
            </a:solidFill>
            <a:prstDash val="solid"/>
          </a:ln>
        </p:spPr>
      </p:sp>
      <p:sp>
        <p:nvSpPr>
          <p:cNvPr id="15" name="Text 12"/>
          <p:cNvSpPr txBox="1"/>
          <p:nvPr/>
        </p:nvSpPr>
        <p:spPr>
          <a:xfrm>
            <a:off x="3063240" y="2532888"/>
            <a:ext cx="1920240" cy="274320"/>
          </a:xfrm>
          <a:prstGeom prst="rect">
            <a:avLst/>
          </a:prstGeom>
          <a:noFill/>
          <a:ln/>
        </p:spPr>
        <p:txBody>
          <a:bodyPr wrap="square" lIns="0" tIns="0" rIns="0" bIns="0" rtlCol="0" anchor="t"/>
          <a:lstStyle/>
          <a:p>
            <a:pPr indent="0" marL="0">
              <a:buNone/>
            </a:pPr>
            <a:r>
              <a:rPr lang="en-US" sz="1200" b="1" dirty="0">
                <a:solidFill>
                  <a:srgbClr val="0E9F8E"/>
                </a:solidFill>
                <a:latin typeface="Courier New" pitchFamily="34" charset="0"/>
                <a:ea typeface="Courier New" pitchFamily="34" charset="-122"/>
                <a:cs typeface="Courier New" pitchFamily="34" charset="-120"/>
              </a:rPr>
              <a:t>speaker.py</a:t>
            </a:r>
            <a:endParaRPr lang="en-US" sz="1200" dirty="0"/>
          </a:p>
        </p:txBody>
      </p:sp>
      <p:sp>
        <p:nvSpPr>
          <p:cNvPr id="16" name="Text 13"/>
          <p:cNvSpPr txBox="1"/>
          <p:nvPr/>
        </p:nvSpPr>
        <p:spPr>
          <a:xfrm>
            <a:off x="3063240" y="2816352"/>
            <a:ext cx="1920240" cy="32004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Talks, without nagging</a:t>
            </a:r>
            <a:endParaRPr lang="en-US" sz="1200" dirty="0"/>
          </a:p>
        </p:txBody>
      </p:sp>
      <p:sp>
        <p:nvSpPr>
          <p:cNvPr id="17" name="Shape 14"/>
          <p:cNvSpPr/>
          <p:nvPr/>
        </p:nvSpPr>
        <p:spPr>
          <a:xfrm>
            <a:off x="548640" y="3337560"/>
            <a:ext cx="2194560" cy="777240"/>
          </a:xfrm>
          <a:prstGeom prst="roundRect">
            <a:avLst>
              <a:gd name="adj" fmla="val 11765"/>
            </a:avLst>
          </a:prstGeom>
          <a:solidFill>
            <a:srgbClr val="F1F5F9"/>
          </a:solidFill>
          <a:ln w="12700">
            <a:solidFill>
              <a:srgbClr val="F1F5F9"/>
            </a:solidFill>
            <a:prstDash val="solid"/>
          </a:ln>
        </p:spPr>
      </p:sp>
      <p:sp>
        <p:nvSpPr>
          <p:cNvPr id="18" name="Text 15"/>
          <p:cNvSpPr txBox="1"/>
          <p:nvPr/>
        </p:nvSpPr>
        <p:spPr>
          <a:xfrm>
            <a:off x="731520" y="3447288"/>
            <a:ext cx="1920240" cy="274320"/>
          </a:xfrm>
          <a:prstGeom prst="rect">
            <a:avLst/>
          </a:prstGeom>
          <a:noFill/>
          <a:ln/>
        </p:spPr>
        <p:txBody>
          <a:bodyPr wrap="square" lIns="0" tIns="0" rIns="0" bIns="0" rtlCol="0" anchor="t"/>
          <a:lstStyle/>
          <a:p>
            <a:pPr indent="0" marL="0">
              <a:buNone/>
            </a:pPr>
            <a:r>
              <a:rPr lang="en-US" sz="1200" b="1" dirty="0">
                <a:solidFill>
                  <a:srgbClr val="0E9F8E"/>
                </a:solidFill>
                <a:latin typeface="Courier New" pitchFamily="34" charset="0"/>
                <a:ea typeface="Courier New" pitchFamily="34" charset="-122"/>
                <a:cs typeface="Courier New" pitchFamily="34" charset="-120"/>
              </a:rPr>
              <a:t>api.py</a:t>
            </a:r>
            <a:endParaRPr lang="en-US" sz="1200" dirty="0"/>
          </a:p>
        </p:txBody>
      </p:sp>
      <p:sp>
        <p:nvSpPr>
          <p:cNvPr id="19" name="Text 16"/>
          <p:cNvSpPr txBox="1"/>
          <p:nvPr/>
        </p:nvSpPr>
        <p:spPr>
          <a:xfrm>
            <a:off x="731520" y="3730752"/>
            <a:ext cx="1920240" cy="32004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Serves the page and the API</a:t>
            </a:r>
            <a:endParaRPr lang="en-US" sz="1200" dirty="0"/>
          </a:p>
        </p:txBody>
      </p:sp>
      <p:sp>
        <p:nvSpPr>
          <p:cNvPr id="20" name="Shape 17"/>
          <p:cNvSpPr/>
          <p:nvPr/>
        </p:nvSpPr>
        <p:spPr>
          <a:xfrm>
            <a:off x="2880360" y="3337560"/>
            <a:ext cx="2194560" cy="777240"/>
          </a:xfrm>
          <a:prstGeom prst="roundRect">
            <a:avLst>
              <a:gd name="adj" fmla="val 11765"/>
            </a:avLst>
          </a:prstGeom>
          <a:solidFill>
            <a:srgbClr val="F1F5F9"/>
          </a:solidFill>
          <a:ln w="12700">
            <a:solidFill>
              <a:srgbClr val="F1F5F9"/>
            </a:solidFill>
            <a:prstDash val="solid"/>
          </a:ln>
        </p:spPr>
      </p:sp>
      <p:sp>
        <p:nvSpPr>
          <p:cNvPr id="21" name="Text 18"/>
          <p:cNvSpPr txBox="1"/>
          <p:nvPr/>
        </p:nvSpPr>
        <p:spPr>
          <a:xfrm>
            <a:off x="3063240" y="3447288"/>
            <a:ext cx="1920240" cy="274320"/>
          </a:xfrm>
          <a:prstGeom prst="rect">
            <a:avLst/>
          </a:prstGeom>
          <a:noFill/>
          <a:ln/>
        </p:spPr>
        <p:txBody>
          <a:bodyPr wrap="square" lIns="0" tIns="0" rIns="0" bIns="0" rtlCol="0" anchor="t"/>
          <a:lstStyle/>
          <a:p>
            <a:pPr indent="0" marL="0">
              <a:buNone/>
            </a:pPr>
            <a:r>
              <a:rPr lang="en-US" sz="1200" b="1" dirty="0">
                <a:solidFill>
                  <a:srgbClr val="0E9F8E"/>
                </a:solidFill>
                <a:latin typeface="Courier New" pitchFamily="34" charset="0"/>
                <a:ea typeface="Courier New" pitchFamily="34" charset="-122"/>
                <a:cs typeface="Courier New" pitchFamily="34" charset="-120"/>
              </a:rPr>
              <a:t>app.py</a:t>
            </a:r>
            <a:endParaRPr lang="en-US" sz="1200" dirty="0"/>
          </a:p>
        </p:txBody>
      </p:sp>
      <p:sp>
        <p:nvSpPr>
          <p:cNvPr id="22" name="Text 19"/>
          <p:cNvSpPr txBox="1"/>
          <p:nvPr/>
        </p:nvSpPr>
        <p:spPr>
          <a:xfrm>
            <a:off x="3063240" y="3730752"/>
            <a:ext cx="1920240" cy="32004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The desktop window</a:t>
            </a:r>
            <a:endParaRPr lang="en-US" sz="1200" dirty="0"/>
          </a:p>
        </p:txBody>
      </p:sp>
      <p:sp>
        <p:nvSpPr>
          <p:cNvPr id="23" name="Shape 20"/>
          <p:cNvSpPr/>
          <p:nvPr/>
        </p:nvSpPr>
        <p:spPr>
          <a:xfrm>
            <a:off x="5394960" y="1508760"/>
            <a:ext cx="3200400" cy="2606040"/>
          </a:xfrm>
          <a:prstGeom prst="roundRect">
            <a:avLst>
              <a:gd name="adj" fmla="val 4211"/>
            </a:avLst>
          </a:prstGeom>
          <a:solidFill>
            <a:srgbClr val="13203A"/>
          </a:solidFill>
          <a:ln w="12700">
            <a:solidFill>
              <a:srgbClr val="13203A"/>
            </a:solidFill>
            <a:prstDash val="solid"/>
          </a:ln>
        </p:spPr>
      </p:sp>
      <p:sp>
        <p:nvSpPr>
          <p:cNvPr id="24" name="Text 21"/>
          <p:cNvSpPr txBox="1"/>
          <p:nvPr/>
        </p:nvSpPr>
        <p:spPr>
          <a:xfrm>
            <a:off x="5623560" y="1691640"/>
            <a:ext cx="2743200" cy="320040"/>
          </a:xfrm>
          <a:prstGeom prst="rect">
            <a:avLst/>
          </a:prstGeom>
          <a:noFill/>
          <a:ln/>
        </p:spPr>
        <p:txBody>
          <a:bodyPr wrap="square" lIns="0" tIns="0" rIns="0" bIns="0" rtlCol="0" anchor="t"/>
          <a:lstStyle/>
          <a:p>
            <a:pPr indent="0" marL="0">
              <a:buNone/>
            </a:pPr>
            <a:r>
              <a:rPr lang="en-US" sz="1800" b="1" dirty="0">
                <a:solidFill>
                  <a:srgbClr val="FFFFFF"/>
                </a:solidFill>
                <a:latin typeface="Cambria" pitchFamily="34" charset="0"/>
                <a:ea typeface="Cambria" pitchFamily="34" charset="-122"/>
                <a:cs typeface="Cambria" pitchFamily="34" charset="-120"/>
              </a:rPr>
              <a:t>Talk to it</a:t>
            </a:r>
            <a:endParaRPr lang="en-US" sz="1800" dirty="0"/>
          </a:p>
        </p:txBody>
      </p:sp>
      <p:sp>
        <p:nvSpPr>
          <p:cNvPr id="25" name="Text 22"/>
          <p:cNvSpPr txBox="1"/>
          <p:nvPr/>
        </p:nvSpPr>
        <p:spPr>
          <a:xfrm>
            <a:off x="5623560" y="2103120"/>
            <a:ext cx="2743200" cy="1920240"/>
          </a:xfrm>
          <a:prstGeom prst="rect">
            <a:avLst/>
          </a:prstGeom>
          <a:noFill/>
          <a:ln/>
        </p:spPr>
        <p:txBody>
          <a:bodyPr wrap="square" lIns="0" tIns="0" rIns="0" bIns="0" rtlCol="0" anchor="t"/>
          <a:lstStyle/>
          <a:p>
            <a:pPr indent="0" marL="0">
              <a:buNone/>
            </a:pPr>
            <a:r>
              <a:rPr lang="en-US" sz="1200" b="1" dirty="0">
                <a:solidFill>
                  <a:srgbClr val="7FE3D3"/>
                </a:solidFill>
                <a:latin typeface="Courier New" pitchFamily="34" charset="0"/>
                <a:ea typeface="Courier New" pitchFamily="34" charset="-122"/>
                <a:cs typeface="Courier New" pitchFamily="34" charset="-120"/>
              </a:rPr>
              <a:t>POST /api/process
</a:t>
            </a:r>
            <a:pPr indent="0" marL="0">
              <a:buNone/>
            </a:pPr>
            <a:r>
              <a:rPr lang="en-US" sz="1200" dirty="0">
                <a:solidFill>
                  <a:srgbClr val="D5DEEC"/>
                </a:solidFill>
                <a:latin typeface="Calibri" pitchFamily="34" charset="0"/>
                <a:ea typeface="Calibri" pitchFamily="34" charset="-122"/>
                <a:cs typeface="Calibri" pitchFamily="34" charset="-120"/>
              </a:rPr>
              <a:t>Send a photo, get back a sentence and the boxes.
</a:t>
            </a:r>
            <a:pPr indent="0" marL="0">
              <a:buNone/>
            </a:pPr>
            <a:r>
              <a:rPr lang="en-US" sz="1200" b="1" dirty="0">
                <a:solidFill>
                  <a:srgbClr val="7FE3D3"/>
                </a:solidFill>
                <a:latin typeface="Courier New" pitchFamily="34" charset="0"/>
                <a:ea typeface="Courier New" pitchFamily="34" charset="-122"/>
                <a:cs typeface="Courier New" pitchFamily="34" charset="-120"/>
              </a:rPr>
              <a:t>/lens
</a:t>
            </a:r>
            <a:pPr indent="0" marL="0">
              <a:buNone/>
            </a:pPr>
            <a:r>
              <a:rPr lang="en-US" sz="1200" dirty="0">
                <a:solidFill>
                  <a:srgbClr val="D5DEEC"/>
                </a:solidFill>
                <a:latin typeface="Calibri" pitchFamily="34" charset="0"/>
                <a:ea typeface="Calibri" pitchFamily="34" charset="-122"/>
                <a:cs typeface="Calibri" pitchFamily="34" charset="-120"/>
              </a:rPr>
              <a:t>A bigger model with about 4,500 object types, for still photos.</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046720" cy="274320"/>
          </a:xfrm>
          <a:prstGeom prst="rect">
            <a:avLst/>
          </a:prstGeom>
          <a:noFill/>
          <a:ln/>
        </p:spPr>
        <p:txBody>
          <a:bodyPr wrap="square" lIns="0" tIns="0" rIns="0" bIns="0" rtlCol="0" anchor="ctr"/>
          <a:lstStyle/>
          <a:p>
            <a:pPr indent="0" marL="0">
              <a:buNone/>
            </a:pPr>
            <a:r>
              <a:rPr lang="en-US" sz="1300" b="1" dirty="0">
                <a:solidFill>
                  <a:srgbClr val="0E9F8E"/>
                </a:solidFill>
                <a:latin typeface="Calibri" pitchFamily="34" charset="0"/>
                <a:ea typeface="Calibri" pitchFamily="34" charset="-122"/>
                <a:cs typeface="Calibri" pitchFamily="34" charset="-120"/>
              </a:rPr>
              <a:t>Performance</a:t>
            </a:r>
            <a:endParaRPr lang="en-US" sz="1300" dirty="0"/>
          </a:p>
        </p:txBody>
      </p:sp>
      <p:sp>
        <p:nvSpPr>
          <p:cNvPr id="3" name="Text 1"/>
          <p:cNvSpPr txBox="1"/>
          <p:nvPr/>
        </p:nvSpPr>
        <p:spPr>
          <a:xfrm>
            <a:off x="548640" y="658368"/>
            <a:ext cx="8046720" cy="685800"/>
          </a:xfrm>
          <a:prstGeom prst="rect">
            <a:avLst/>
          </a:prstGeom>
          <a:noFill/>
          <a:ln/>
        </p:spPr>
        <p:txBody>
          <a:bodyPr wrap="square" lIns="0" tIns="0" rIns="0" bIns="0" rtlCol="0" anchor="ctr"/>
          <a:lstStyle/>
          <a:p>
            <a:pPr indent="0" marL="0">
              <a:buNone/>
            </a:pPr>
            <a:r>
              <a:rPr lang="en-US" sz="3200" b="1" dirty="0">
                <a:solidFill>
                  <a:srgbClr val="13203A"/>
                </a:solidFill>
                <a:latin typeface="Cambria" pitchFamily="34" charset="0"/>
                <a:ea typeface="Cambria" pitchFamily="34" charset="-122"/>
                <a:cs typeface="Cambria" pitchFamily="34" charset="-120"/>
              </a:rPr>
              <a:t>Fast enough to feel live</a:t>
            </a:r>
            <a:endParaRPr lang="en-US" sz="3200" dirty="0"/>
          </a:p>
        </p:txBody>
      </p:sp>
      <p:graphicFrame>
        <p:nvGraphicFramePr>
          <p:cNvPr id="5" name="Chart 0" descr=""/>
          <p:cNvGraphicFramePr/>
          <p:nvPr/>
        </p:nvGraphicFramePr>
        <p:xfrm>
          <a:off x="548640" y="1463040"/>
          <a:ext cx="5120640" cy="310896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6035040" y="1737360"/>
            <a:ext cx="2560320" cy="822960"/>
          </a:xfrm>
          <a:prstGeom prst="rect">
            <a:avLst/>
          </a:prstGeom>
          <a:noFill/>
          <a:ln/>
        </p:spPr>
        <p:txBody>
          <a:bodyPr wrap="square" lIns="0" tIns="0" rIns="0" bIns="0" rtlCol="0" anchor="t"/>
          <a:lstStyle/>
          <a:p>
            <a:pPr indent="0" marL="0">
              <a:buNone/>
            </a:pPr>
            <a:r>
              <a:rPr lang="en-US" sz="4400" b="1" dirty="0">
                <a:solidFill>
                  <a:srgbClr val="0E9F8E"/>
                </a:solidFill>
                <a:latin typeface="Cambria" pitchFamily="34" charset="0"/>
                <a:ea typeface="Cambria" pitchFamily="34" charset="-122"/>
                <a:cs typeface="Cambria" pitchFamily="34" charset="-120"/>
              </a:rPr>
              <a:t>~0.15 s</a:t>
            </a:r>
            <a:endParaRPr lang="en-US" sz="4400" dirty="0"/>
          </a:p>
        </p:txBody>
      </p:sp>
      <p:sp>
        <p:nvSpPr>
          <p:cNvPr id="7" name="Text 3"/>
          <p:cNvSpPr txBox="1"/>
          <p:nvPr/>
        </p:nvSpPr>
        <p:spPr>
          <a:xfrm>
            <a:off x="6035040" y="2606040"/>
            <a:ext cx="2560320" cy="73152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from camera frame to sentence, through the API (about 140–160 ms)</a:t>
            </a:r>
            <a:endParaRPr lang="en-US" sz="1400" dirty="0"/>
          </a:p>
        </p:txBody>
      </p:sp>
      <p:sp>
        <p:nvSpPr>
          <p:cNvPr id="8" name="Text 4"/>
          <p:cNvSpPr txBox="1"/>
          <p:nvPr/>
        </p:nvSpPr>
        <p:spPr>
          <a:xfrm>
            <a:off x="6035040" y="3566160"/>
            <a:ext cx="2560320" cy="640080"/>
          </a:xfrm>
          <a:prstGeom prst="rect">
            <a:avLst/>
          </a:prstGeom>
          <a:noFill/>
          <a:ln/>
        </p:spPr>
        <p:txBody>
          <a:bodyPr wrap="square" lIns="0" tIns="0" rIns="0" bIns="0" rtlCol="0" anchor="t"/>
          <a:lstStyle/>
          <a:p>
            <a:pPr indent="0" marL="0">
              <a:buNone/>
            </a:pPr>
            <a:r>
              <a:rPr lang="en-US" sz="1300" dirty="0">
                <a:solidFill>
                  <a:srgbClr val="6B7280"/>
                </a:solidFill>
                <a:latin typeface="Calibri" pitchFamily="34" charset="0"/>
                <a:ea typeface="Calibri" pitchFamily="34" charset="-122"/>
                <a:cs typeface="Calibri" pitchFamily="34" charset="-120"/>
              </a:rPr>
              <a:t>Need it faster? Use the smaller yolov8n model.</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046720" cy="274320"/>
          </a:xfrm>
          <a:prstGeom prst="rect">
            <a:avLst/>
          </a:prstGeom>
          <a:noFill/>
          <a:ln/>
        </p:spPr>
        <p:txBody>
          <a:bodyPr wrap="square" lIns="0" tIns="0" rIns="0" bIns="0" rtlCol="0" anchor="ctr"/>
          <a:lstStyle/>
          <a:p>
            <a:pPr indent="0" marL="0">
              <a:buNone/>
            </a:pPr>
            <a:r>
              <a:rPr lang="en-US" sz="1300" b="1" dirty="0">
                <a:solidFill>
                  <a:srgbClr val="0E9F8E"/>
                </a:solidFill>
                <a:latin typeface="Calibri" pitchFamily="34" charset="0"/>
                <a:ea typeface="Calibri" pitchFamily="34" charset="-122"/>
                <a:cs typeface="Calibri" pitchFamily="34" charset="-120"/>
              </a:rPr>
              <a:t>Being honest</a:t>
            </a:r>
            <a:endParaRPr lang="en-US" sz="1300" dirty="0"/>
          </a:p>
        </p:txBody>
      </p:sp>
      <p:sp>
        <p:nvSpPr>
          <p:cNvPr id="3" name="Text 1"/>
          <p:cNvSpPr txBox="1"/>
          <p:nvPr/>
        </p:nvSpPr>
        <p:spPr>
          <a:xfrm>
            <a:off x="548640" y="658368"/>
            <a:ext cx="8046720" cy="685800"/>
          </a:xfrm>
          <a:prstGeom prst="rect">
            <a:avLst/>
          </a:prstGeom>
          <a:noFill/>
          <a:ln/>
        </p:spPr>
        <p:txBody>
          <a:bodyPr wrap="square" lIns="0" tIns="0" rIns="0" bIns="0" rtlCol="0" anchor="ctr"/>
          <a:lstStyle/>
          <a:p>
            <a:pPr indent="0" marL="0">
              <a:buNone/>
            </a:pPr>
            <a:r>
              <a:rPr lang="en-US" sz="3200" b="1" dirty="0">
                <a:solidFill>
                  <a:srgbClr val="13203A"/>
                </a:solidFill>
                <a:latin typeface="Cambria" pitchFamily="34" charset="0"/>
                <a:ea typeface="Cambria" pitchFamily="34" charset="-122"/>
                <a:cs typeface="Cambria" pitchFamily="34" charset="-120"/>
              </a:rPr>
              <a:t>What it can’t do yet</a:t>
            </a:r>
            <a:endParaRPr lang="en-US" sz="3200" dirty="0"/>
          </a:p>
        </p:txBody>
      </p:sp>
      <p:sp>
        <p:nvSpPr>
          <p:cNvPr id="5" name="Shape 2"/>
          <p:cNvSpPr/>
          <p:nvPr/>
        </p:nvSpPr>
        <p:spPr>
          <a:xfrm>
            <a:off x="548640" y="1508760"/>
            <a:ext cx="3931920" cy="1325880"/>
          </a:xfrm>
          <a:prstGeom prst="roundRect">
            <a:avLst>
              <a:gd name="adj" fmla="val 8276"/>
            </a:avLst>
          </a:prstGeom>
          <a:solidFill>
            <a:srgbClr val="F1F5F9"/>
          </a:solidFill>
          <a:ln w="12700">
            <a:solidFill>
              <a:srgbClr val="F1F5F9"/>
            </a:solidFill>
            <a:prstDash val="solid"/>
          </a:ln>
        </p:spPr>
      </p:sp>
      <p:sp>
        <p:nvSpPr>
          <p:cNvPr id="6" name="Shape 3"/>
          <p:cNvSpPr/>
          <p:nvPr/>
        </p:nvSpPr>
        <p:spPr>
          <a:xfrm>
            <a:off x="777240" y="1737360"/>
            <a:ext cx="256032" cy="256032"/>
          </a:xfrm>
          <a:prstGeom prst="ellipse">
            <a:avLst/>
          </a:prstGeom>
          <a:solidFill>
            <a:srgbClr val="F26B5B"/>
          </a:solidFill>
          <a:ln w="12700">
            <a:solidFill>
              <a:srgbClr val="F26B5B"/>
            </a:solidFill>
            <a:prstDash val="solid"/>
          </a:ln>
        </p:spPr>
      </p:sp>
      <p:sp>
        <p:nvSpPr>
          <p:cNvPr id="7" name="Text 4"/>
          <p:cNvSpPr txBox="1"/>
          <p:nvPr/>
        </p:nvSpPr>
        <p:spPr>
          <a:xfrm>
            <a:off x="1188720" y="1691640"/>
            <a:ext cx="3108960" cy="365760"/>
          </a:xfrm>
          <a:prstGeom prst="rect">
            <a:avLst/>
          </a:prstGeom>
          <a:noFill/>
          <a:ln/>
        </p:spPr>
        <p:txBody>
          <a:bodyPr wrap="square" lIns="0" tIns="0" rIns="0" bIns="0" rtlCol="0" anchor="t"/>
          <a:lstStyle/>
          <a:p>
            <a:pPr indent="0" marL="0">
              <a:buNone/>
            </a:pPr>
            <a:r>
              <a:rPr lang="en-US" sz="1600" b="1" dirty="0">
                <a:solidFill>
                  <a:srgbClr val="13203A"/>
                </a:solidFill>
                <a:latin typeface="Cambria" pitchFamily="34" charset="0"/>
                <a:ea typeface="Cambria" pitchFamily="34" charset="-122"/>
                <a:cs typeface="Cambria" pitchFamily="34" charset="-120"/>
              </a:rPr>
              <a:t>Not tested on a live webcam yet</a:t>
            </a:r>
            <a:endParaRPr lang="en-US" sz="1600" dirty="0"/>
          </a:p>
        </p:txBody>
      </p:sp>
      <p:sp>
        <p:nvSpPr>
          <p:cNvPr id="8" name="Text 5"/>
          <p:cNvSpPr txBox="1"/>
          <p:nvPr/>
        </p:nvSpPr>
        <p:spPr>
          <a:xfrm>
            <a:off x="1188720" y="2103120"/>
            <a:ext cx="3108960" cy="68580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So far: 11 passing tests and a check on a real photo. Real-world use comes next.</a:t>
            </a:r>
            <a:endParaRPr lang="en-US" sz="1300" dirty="0"/>
          </a:p>
        </p:txBody>
      </p:sp>
      <p:sp>
        <p:nvSpPr>
          <p:cNvPr id="9" name="Shape 6"/>
          <p:cNvSpPr/>
          <p:nvPr/>
        </p:nvSpPr>
        <p:spPr>
          <a:xfrm>
            <a:off x="4663440" y="1508760"/>
            <a:ext cx="3931920" cy="1325880"/>
          </a:xfrm>
          <a:prstGeom prst="roundRect">
            <a:avLst>
              <a:gd name="adj" fmla="val 8276"/>
            </a:avLst>
          </a:prstGeom>
          <a:solidFill>
            <a:srgbClr val="F1F5F9"/>
          </a:solidFill>
          <a:ln w="12700">
            <a:solidFill>
              <a:srgbClr val="F1F5F9"/>
            </a:solidFill>
            <a:prstDash val="solid"/>
          </a:ln>
        </p:spPr>
      </p:sp>
      <p:sp>
        <p:nvSpPr>
          <p:cNvPr id="10" name="Shape 7"/>
          <p:cNvSpPr/>
          <p:nvPr/>
        </p:nvSpPr>
        <p:spPr>
          <a:xfrm>
            <a:off x="4892040" y="1737360"/>
            <a:ext cx="256032" cy="256032"/>
          </a:xfrm>
          <a:prstGeom prst="ellipse">
            <a:avLst/>
          </a:prstGeom>
          <a:solidFill>
            <a:srgbClr val="0E9F8E"/>
          </a:solidFill>
          <a:ln w="12700">
            <a:solidFill>
              <a:srgbClr val="0E9F8E"/>
            </a:solidFill>
            <a:prstDash val="solid"/>
          </a:ln>
        </p:spPr>
      </p:sp>
      <p:sp>
        <p:nvSpPr>
          <p:cNvPr id="11" name="Text 8"/>
          <p:cNvSpPr txBox="1"/>
          <p:nvPr/>
        </p:nvSpPr>
        <p:spPr>
          <a:xfrm>
            <a:off x="5303520" y="1691640"/>
            <a:ext cx="3108960" cy="365760"/>
          </a:xfrm>
          <a:prstGeom prst="rect">
            <a:avLst/>
          </a:prstGeom>
          <a:noFill/>
          <a:ln/>
        </p:spPr>
        <p:txBody>
          <a:bodyPr wrap="square" lIns="0" tIns="0" rIns="0" bIns="0" rtlCol="0" anchor="t"/>
          <a:lstStyle/>
          <a:p>
            <a:pPr indent="0" marL="0">
              <a:buNone/>
            </a:pPr>
            <a:r>
              <a:rPr lang="en-US" sz="1600" b="1" dirty="0">
                <a:solidFill>
                  <a:srgbClr val="13203A"/>
                </a:solidFill>
                <a:latin typeface="Cambria" pitchFamily="34" charset="0"/>
                <a:ea typeface="Cambria" pitchFamily="34" charset="-122"/>
                <a:cs typeface="Cambria" pitchFamily="34" charset="-120"/>
              </a:rPr>
              <a:t>Distance is a guess</a:t>
            </a:r>
            <a:endParaRPr lang="en-US" sz="1600" dirty="0"/>
          </a:p>
        </p:txBody>
      </p:sp>
      <p:sp>
        <p:nvSpPr>
          <p:cNvPr id="12" name="Text 9"/>
          <p:cNvSpPr txBox="1"/>
          <p:nvPr/>
        </p:nvSpPr>
        <p:spPr>
          <a:xfrm>
            <a:off x="5303520" y="2103120"/>
            <a:ext cx="3108960" cy="68580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It comes from how big the box is, not from a real measurement.</a:t>
            </a:r>
            <a:endParaRPr lang="en-US" sz="1300" dirty="0"/>
          </a:p>
        </p:txBody>
      </p:sp>
      <p:sp>
        <p:nvSpPr>
          <p:cNvPr id="13" name="Shape 10"/>
          <p:cNvSpPr/>
          <p:nvPr/>
        </p:nvSpPr>
        <p:spPr>
          <a:xfrm>
            <a:off x="548640" y="2971800"/>
            <a:ext cx="3931920" cy="1325880"/>
          </a:xfrm>
          <a:prstGeom prst="roundRect">
            <a:avLst>
              <a:gd name="adj" fmla="val 8276"/>
            </a:avLst>
          </a:prstGeom>
          <a:solidFill>
            <a:srgbClr val="F1F5F9"/>
          </a:solidFill>
          <a:ln w="12700">
            <a:solidFill>
              <a:srgbClr val="F1F5F9"/>
            </a:solidFill>
            <a:prstDash val="solid"/>
          </a:ln>
        </p:spPr>
      </p:sp>
      <p:sp>
        <p:nvSpPr>
          <p:cNvPr id="14" name="Shape 11"/>
          <p:cNvSpPr/>
          <p:nvPr/>
        </p:nvSpPr>
        <p:spPr>
          <a:xfrm>
            <a:off x="777240" y="3200400"/>
            <a:ext cx="256032" cy="256032"/>
          </a:xfrm>
          <a:prstGeom prst="ellipse">
            <a:avLst/>
          </a:prstGeom>
          <a:solidFill>
            <a:srgbClr val="13203A"/>
          </a:solidFill>
          <a:ln w="12700">
            <a:solidFill>
              <a:srgbClr val="13203A"/>
            </a:solidFill>
            <a:prstDash val="solid"/>
          </a:ln>
        </p:spPr>
      </p:sp>
      <p:sp>
        <p:nvSpPr>
          <p:cNvPr id="15" name="Text 12"/>
          <p:cNvSpPr txBox="1"/>
          <p:nvPr/>
        </p:nvSpPr>
        <p:spPr>
          <a:xfrm>
            <a:off x="1188720" y="3154680"/>
            <a:ext cx="3108960" cy="365760"/>
          </a:xfrm>
          <a:prstGeom prst="rect">
            <a:avLst/>
          </a:prstGeom>
          <a:noFill/>
          <a:ln/>
        </p:spPr>
        <p:txBody>
          <a:bodyPr wrap="square" lIns="0" tIns="0" rIns="0" bIns="0" rtlCol="0" anchor="t"/>
          <a:lstStyle/>
          <a:p>
            <a:pPr indent="0" marL="0">
              <a:buNone/>
            </a:pPr>
            <a:r>
              <a:rPr lang="en-US" sz="1600" b="1" dirty="0">
                <a:solidFill>
                  <a:srgbClr val="13203A"/>
                </a:solidFill>
                <a:latin typeface="Cambria" pitchFamily="34" charset="0"/>
                <a:ea typeface="Cambria" pitchFamily="34" charset="-122"/>
                <a:cs typeface="Cambria" pitchFamily="34" charset="-120"/>
              </a:rPr>
              <a:t>It only knows what it was trained on</a:t>
            </a:r>
            <a:endParaRPr lang="en-US" sz="1600" dirty="0"/>
          </a:p>
        </p:txBody>
      </p:sp>
      <p:sp>
        <p:nvSpPr>
          <p:cNvPr id="16" name="Text 13"/>
          <p:cNvSpPr txBox="1"/>
          <p:nvPr/>
        </p:nvSpPr>
        <p:spPr>
          <a:xfrm>
            <a:off x="1188720" y="3566160"/>
            <a:ext cx="3108960" cy="68580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Unfamiliar objects can be missed or named differently.</a:t>
            </a:r>
            <a:endParaRPr lang="en-US" sz="1300" dirty="0"/>
          </a:p>
        </p:txBody>
      </p:sp>
      <p:sp>
        <p:nvSpPr>
          <p:cNvPr id="17" name="Shape 14"/>
          <p:cNvSpPr/>
          <p:nvPr/>
        </p:nvSpPr>
        <p:spPr>
          <a:xfrm>
            <a:off x="4663440" y="2971800"/>
            <a:ext cx="3931920" cy="1325880"/>
          </a:xfrm>
          <a:prstGeom prst="roundRect">
            <a:avLst>
              <a:gd name="adj" fmla="val 8276"/>
            </a:avLst>
          </a:prstGeom>
          <a:solidFill>
            <a:srgbClr val="F1F5F9"/>
          </a:solidFill>
          <a:ln w="12700">
            <a:solidFill>
              <a:srgbClr val="F1F5F9"/>
            </a:solidFill>
            <a:prstDash val="solid"/>
          </a:ln>
        </p:spPr>
      </p:sp>
      <p:sp>
        <p:nvSpPr>
          <p:cNvPr id="18" name="Shape 15"/>
          <p:cNvSpPr/>
          <p:nvPr/>
        </p:nvSpPr>
        <p:spPr>
          <a:xfrm>
            <a:off x="4892040" y="3200400"/>
            <a:ext cx="256032" cy="256032"/>
          </a:xfrm>
          <a:prstGeom prst="ellipse">
            <a:avLst/>
          </a:prstGeom>
          <a:solidFill>
            <a:srgbClr val="F26B5B"/>
          </a:solidFill>
          <a:ln w="12700">
            <a:solidFill>
              <a:srgbClr val="F26B5B"/>
            </a:solidFill>
            <a:prstDash val="solid"/>
          </a:ln>
        </p:spPr>
      </p:sp>
      <p:sp>
        <p:nvSpPr>
          <p:cNvPr id="19" name="Text 16"/>
          <p:cNvSpPr txBox="1"/>
          <p:nvPr/>
        </p:nvSpPr>
        <p:spPr>
          <a:xfrm>
            <a:off x="5303520" y="3154680"/>
            <a:ext cx="3108960" cy="365760"/>
          </a:xfrm>
          <a:prstGeom prst="rect">
            <a:avLst/>
          </a:prstGeom>
          <a:noFill/>
          <a:ln/>
        </p:spPr>
        <p:txBody>
          <a:bodyPr wrap="square" lIns="0" tIns="0" rIns="0" bIns="0" rtlCol="0" anchor="t"/>
          <a:lstStyle/>
          <a:p>
            <a:pPr indent="0" marL="0">
              <a:buNone/>
            </a:pPr>
            <a:r>
              <a:rPr lang="en-US" sz="1600" b="1" dirty="0">
                <a:solidFill>
                  <a:srgbClr val="13203A"/>
                </a:solidFill>
                <a:latin typeface="Cambria" pitchFamily="34" charset="0"/>
                <a:ea typeface="Cambria" pitchFamily="34" charset="-122"/>
                <a:cs typeface="Cambria" pitchFamily="34" charset="-120"/>
              </a:rPr>
              <a:t>A prototype, not a safety device</a:t>
            </a:r>
            <a:endParaRPr lang="en-US" sz="1600" dirty="0"/>
          </a:p>
        </p:txBody>
      </p:sp>
      <p:sp>
        <p:nvSpPr>
          <p:cNvPr id="20" name="Text 17"/>
          <p:cNvSpPr txBox="1"/>
          <p:nvPr/>
        </p:nvSpPr>
        <p:spPr>
          <a:xfrm>
            <a:off x="5303520" y="3566160"/>
            <a:ext cx="3108960" cy="68580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Please don’t rely on it to get around.</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3203A"/>
        </a:solidFill>
      </p:bgPr>
    </p:bg>
    <p:spTree>
      <p:nvGrpSpPr>
        <p:cNvPr id="1" name=""/>
        <p:cNvGrpSpPr/>
        <p:nvPr/>
      </p:nvGrpSpPr>
      <p:grpSpPr>
        <a:xfrm>
          <a:off x="0" y="0"/>
          <a:ext cx="0" cy="0"/>
          <a:chOff x="0" y="0"/>
          <a:chExt cx="0" cy="0"/>
        </a:xfrm>
      </p:grpSpPr>
      <p:sp>
        <p:nvSpPr>
          <p:cNvPr id="2" name="Text 0"/>
          <p:cNvSpPr txBox="1"/>
          <p:nvPr/>
        </p:nvSpPr>
        <p:spPr>
          <a:xfrm>
            <a:off x="548640" y="457200"/>
            <a:ext cx="5486400" cy="274320"/>
          </a:xfrm>
          <a:prstGeom prst="rect">
            <a:avLst/>
          </a:prstGeom>
          <a:noFill/>
          <a:ln/>
        </p:spPr>
        <p:txBody>
          <a:bodyPr wrap="square" lIns="0" tIns="0" rIns="0" bIns="0" rtlCol="0" anchor="t"/>
          <a:lstStyle/>
          <a:p>
            <a:pPr indent="0" marL="0">
              <a:buNone/>
            </a:pPr>
            <a:r>
              <a:rPr lang="en-US" sz="1300" b="1" dirty="0">
                <a:solidFill>
                  <a:srgbClr val="7FE3D3"/>
                </a:solidFill>
                <a:latin typeface="Calibri" pitchFamily="34" charset="0"/>
                <a:ea typeface="Calibri" pitchFamily="34" charset="-122"/>
                <a:cs typeface="Calibri" pitchFamily="34" charset="-120"/>
              </a:rPr>
              <a:t>WHAT’S NEXT</a:t>
            </a:r>
            <a:endParaRPr lang="en-US" sz="1300" dirty="0"/>
          </a:p>
        </p:txBody>
      </p:sp>
      <p:sp>
        <p:nvSpPr>
          <p:cNvPr id="3" name="Text 1"/>
          <p:cNvSpPr txBox="1"/>
          <p:nvPr/>
        </p:nvSpPr>
        <p:spPr>
          <a:xfrm>
            <a:off x="548640" y="777240"/>
            <a:ext cx="8046720" cy="100584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From working demo to something you can trust</a:t>
            </a:r>
            <a:endParaRPr lang="en-US" sz="3200" dirty="0"/>
          </a:p>
        </p:txBody>
      </p:sp>
      <p:sp>
        <p:nvSpPr>
          <p:cNvPr id="4" name="Shape 2"/>
          <p:cNvSpPr/>
          <p:nvPr/>
        </p:nvSpPr>
        <p:spPr>
          <a:xfrm>
            <a:off x="548640" y="2103120"/>
            <a:ext cx="2606040" cy="1737360"/>
          </a:xfrm>
          <a:prstGeom prst="roundRect">
            <a:avLst>
              <a:gd name="adj" fmla="val 6316"/>
            </a:avLst>
          </a:prstGeom>
          <a:solidFill>
            <a:srgbClr val="1D3052"/>
          </a:solidFill>
          <a:ln w="12700">
            <a:solidFill>
              <a:srgbClr val="1D3052"/>
            </a:solidFill>
            <a:prstDash val="solid"/>
          </a:ln>
        </p:spPr>
      </p:sp>
      <p:sp>
        <p:nvSpPr>
          <p:cNvPr id="5" name="Text 3"/>
          <p:cNvSpPr txBox="1"/>
          <p:nvPr/>
        </p:nvSpPr>
        <p:spPr>
          <a:xfrm>
            <a:off x="777240" y="2286000"/>
            <a:ext cx="2194560" cy="64008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Try it on a real webcam</a:t>
            </a:r>
            <a:endParaRPr lang="en-US" sz="1700" dirty="0"/>
          </a:p>
        </p:txBody>
      </p:sp>
      <p:sp>
        <p:nvSpPr>
          <p:cNvPr id="6" name="Text 4"/>
          <p:cNvSpPr txBox="1"/>
          <p:nvPr/>
        </p:nvSpPr>
        <p:spPr>
          <a:xfrm>
            <a:off x="777240" y="2971800"/>
            <a:ext cx="2194560" cy="731520"/>
          </a:xfrm>
          <a:prstGeom prst="rect">
            <a:avLst/>
          </a:prstGeom>
          <a:noFill/>
          <a:ln/>
        </p:spPr>
        <p:txBody>
          <a:bodyPr wrap="square" lIns="0" tIns="0" rIns="0" bIns="0" rtlCol="0" anchor="t"/>
          <a:lstStyle/>
          <a:p>
            <a:pPr indent="0" marL="0">
              <a:buNone/>
            </a:pPr>
            <a:r>
              <a:rPr lang="en-US" sz="1300" dirty="0">
                <a:solidFill>
                  <a:srgbClr val="B6C2D6"/>
                </a:solidFill>
                <a:latin typeface="Calibri" pitchFamily="34" charset="0"/>
                <a:ea typeface="Calibri" pitchFamily="34" charset="-122"/>
                <a:cs typeface="Calibri" pitchFamily="34" charset="-120"/>
              </a:rPr>
              <a:t>Desktop app first, then the website.</a:t>
            </a:r>
            <a:endParaRPr lang="en-US" sz="1300" dirty="0"/>
          </a:p>
        </p:txBody>
      </p:sp>
      <p:sp>
        <p:nvSpPr>
          <p:cNvPr id="7" name="Shape 5"/>
          <p:cNvSpPr/>
          <p:nvPr/>
        </p:nvSpPr>
        <p:spPr>
          <a:xfrm>
            <a:off x="3337560" y="2103120"/>
            <a:ext cx="2606040" cy="1737360"/>
          </a:xfrm>
          <a:prstGeom prst="roundRect">
            <a:avLst>
              <a:gd name="adj" fmla="val 6316"/>
            </a:avLst>
          </a:prstGeom>
          <a:solidFill>
            <a:srgbClr val="1D3052"/>
          </a:solidFill>
          <a:ln w="12700">
            <a:solidFill>
              <a:srgbClr val="1D3052"/>
            </a:solidFill>
            <a:prstDash val="solid"/>
          </a:ln>
        </p:spPr>
      </p:sp>
      <p:sp>
        <p:nvSpPr>
          <p:cNvPr id="8" name="Text 6"/>
          <p:cNvSpPr txBox="1"/>
          <p:nvPr/>
        </p:nvSpPr>
        <p:spPr>
          <a:xfrm>
            <a:off x="3566160" y="2286000"/>
            <a:ext cx="2194560" cy="64008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Tune it with real use</a:t>
            </a:r>
            <a:endParaRPr lang="en-US" sz="1700" dirty="0"/>
          </a:p>
        </p:txBody>
      </p:sp>
      <p:sp>
        <p:nvSpPr>
          <p:cNvPr id="9" name="Text 7"/>
          <p:cNvSpPr txBox="1"/>
          <p:nvPr/>
        </p:nvSpPr>
        <p:spPr>
          <a:xfrm>
            <a:off x="3566160" y="2971800"/>
            <a:ext cx="2194560" cy="731520"/>
          </a:xfrm>
          <a:prstGeom prst="rect">
            <a:avLst/>
          </a:prstGeom>
          <a:noFill/>
          <a:ln/>
        </p:spPr>
        <p:txBody>
          <a:bodyPr wrap="square" lIns="0" tIns="0" rIns="0" bIns="0" rtlCol="0" anchor="t"/>
          <a:lstStyle/>
          <a:p>
            <a:pPr indent="0" marL="0">
              <a:buNone/>
            </a:pPr>
            <a:r>
              <a:rPr lang="en-US" sz="1300" dirty="0">
                <a:solidFill>
                  <a:srgbClr val="B6C2D6"/>
                </a:solidFill>
                <a:latin typeface="Calibri" pitchFamily="34" charset="0"/>
                <a:ea typeface="Calibri" pitchFamily="34" charset="-122"/>
                <a:cs typeface="Calibri" pitchFamily="34" charset="-120"/>
              </a:rPr>
              <a:t>Adjust thresholds for what feels natural to hear.</a:t>
            </a:r>
            <a:endParaRPr lang="en-US" sz="1300" dirty="0"/>
          </a:p>
        </p:txBody>
      </p:sp>
      <p:sp>
        <p:nvSpPr>
          <p:cNvPr id="10" name="Shape 8"/>
          <p:cNvSpPr/>
          <p:nvPr/>
        </p:nvSpPr>
        <p:spPr>
          <a:xfrm>
            <a:off x="6126480" y="2103120"/>
            <a:ext cx="2606040" cy="1737360"/>
          </a:xfrm>
          <a:prstGeom prst="roundRect">
            <a:avLst>
              <a:gd name="adj" fmla="val 6316"/>
            </a:avLst>
          </a:prstGeom>
          <a:solidFill>
            <a:srgbClr val="1D3052"/>
          </a:solidFill>
          <a:ln w="12700">
            <a:solidFill>
              <a:srgbClr val="1D3052"/>
            </a:solidFill>
            <a:prstDash val="solid"/>
          </a:ln>
        </p:spPr>
      </p:sp>
      <p:sp>
        <p:nvSpPr>
          <p:cNvPr id="11" name="Text 9"/>
          <p:cNvSpPr txBox="1"/>
          <p:nvPr/>
        </p:nvSpPr>
        <p:spPr>
          <a:xfrm>
            <a:off x="6355080" y="2286000"/>
            <a:ext cx="2194560" cy="64008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Get real feedback</a:t>
            </a:r>
            <a:endParaRPr lang="en-US" sz="1700" dirty="0"/>
          </a:p>
        </p:txBody>
      </p:sp>
      <p:sp>
        <p:nvSpPr>
          <p:cNvPr id="12" name="Text 10"/>
          <p:cNvSpPr txBox="1"/>
          <p:nvPr/>
        </p:nvSpPr>
        <p:spPr>
          <a:xfrm>
            <a:off x="6355080" y="2971800"/>
            <a:ext cx="2194560" cy="731520"/>
          </a:xfrm>
          <a:prstGeom prst="rect">
            <a:avLst/>
          </a:prstGeom>
          <a:noFill/>
          <a:ln/>
        </p:spPr>
        <p:txBody>
          <a:bodyPr wrap="square" lIns="0" tIns="0" rIns="0" bIns="0" rtlCol="0" anchor="t"/>
          <a:lstStyle/>
          <a:p>
            <a:pPr indent="0" marL="0">
              <a:buNone/>
            </a:pPr>
            <a:r>
              <a:rPr lang="en-US" sz="1300" dirty="0">
                <a:solidFill>
                  <a:srgbClr val="B6C2D6"/>
                </a:solidFill>
                <a:latin typeface="Calibri" pitchFamily="34" charset="0"/>
                <a:ea typeface="Calibri" pitchFamily="34" charset="-122"/>
                <a:cs typeface="Calibri" pitchFamily="34" charset="-120"/>
              </a:rPr>
              <a:t>Ask people who would actually use it.</a:t>
            </a:r>
            <a:endParaRPr lang="en-US" sz="1300" dirty="0"/>
          </a:p>
        </p:txBody>
      </p:sp>
      <p:sp>
        <p:nvSpPr>
          <p:cNvPr id="13" name="Text 11"/>
          <p:cNvSpPr txBox="1"/>
          <p:nvPr/>
        </p:nvSpPr>
        <p:spPr>
          <a:xfrm>
            <a:off x="548640" y="4251960"/>
            <a:ext cx="8046720" cy="457200"/>
          </a:xfrm>
          <a:prstGeom prst="rect">
            <a:avLst/>
          </a:prstGeom>
          <a:noFill/>
          <a:ln/>
        </p:spPr>
        <p:txBody>
          <a:bodyPr wrap="square" lIns="0" tIns="0" rIns="0" bIns="0" rtlCol="0" anchor="t"/>
          <a:lstStyle/>
          <a:p>
            <a:pPr indent="0" marL="0">
              <a:buNone/>
            </a:pPr>
            <a:r>
              <a:rPr lang="en-US" sz="2200" i="1" dirty="0">
                <a:solidFill>
                  <a:srgbClr val="7FE3D3"/>
                </a:solidFill>
                <a:latin typeface="Cambria" pitchFamily="34" charset="0"/>
                <a:ea typeface="Cambria" pitchFamily="34" charset="-122"/>
                <a:cs typeface="Cambria" pitchFamily="34" charset="-120"/>
              </a:rPr>
              <a:t>Thank you. Questions?</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Vision Assist</dc:title>
  <dc:subject>PptxGenJS Presentation</dc:subject>
  <dc:creator>PptxGenJS</dc:creator>
  <cp:lastModifiedBy>PptxGenJS</cp:lastModifiedBy>
  <cp:revision>1</cp:revision>
  <dcterms:created xsi:type="dcterms:W3CDTF">2026-10-01T09:50:09Z</dcterms:created>
  <dcterms:modified xsi:type="dcterms:W3CDTF">2026-10-01T09:50:09Z</dcterms:modified>
</cp:coreProperties>
</file>